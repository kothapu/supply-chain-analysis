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76" r:id="rId15"/>
    <p:sldId id="275" r:id="rId16"/>
    <p:sldId id="277" r:id="rId17"/>
    <p:sldId id="269" r:id="rId18"/>
    <p:sldId id="273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3BEAC-1B12-4823-A194-92A7EA804E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D79B55-DF05-41EA-AF26-6D645BA784DA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 this project, I performed an Exploratory Data Analysis (EDA) on a USA Sales dataset.</a:t>
          </a:r>
        </a:p>
      </dgm:t>
    </dgm:pt>
    <dgm:pt modelId="{1AFDD370-1F0A-4F1D-9EF5-230BB4CC5A73}" type="parTrans" cxnId="{FE8ED8FE-D39B-4D4C-A475-3DE45B9A81A0}">
      <dgm:prSet/>
      <dgm:spPr/>
      <dgm:t>
        <a:bodyPr/>
        <a:lstStyle/>
        <a:p>
          <a:endParaRPr lang="en-US"/>
        </a:p>
      </dgm:t>
    </dgm:pt>
    <dgm:pt modelId="{9E223A7D-96DF-4EF3-8940-26B06759A170}" type="sibTrans" cxnId="{FE8ED8FE-D39B-4D4C-A475-3DE45B9A81A0}">
      <dgm:prSet/>
      <dgm:spPr/>
      <dgm:t>
        <a:bodyPr/>
        <a:lstStyle/>
        <a:p>
          <a:endParaRPr lang="en-US"/>
        </a:p>
      </dgm:t>
    </dgm:pt>
    <dgm:pt modelId="{CFCE2A5D-F2BC-4362-A424-DEDD01F77AD6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dataset contains information related to various stages of the supply chain, such as procurement, ordering, shipping, and delivery.</a:t>
          </a:r>
        </a:p>
      </dgm:t>
    </dgm:pt>
    <dgm:pt modelId="{3D758703-8CCA-44B5-8162-D3D8716A0E03}" type="parTrans" cxnId="{1C978312-D8A7-4ED4-9825-E5B012CC229C}">
      <dgm:prSet/>
      <dgm:spPr/>
      <dgm:t>
        <a:bodyPr/>
        <a:lstStyle/>
        <a:p>
          <a:endParaRPr lang="en-US"/>
        </a:p>
      </dgm:t>
    </dgm:pt>
    <dgm:pt modelId="{8331E717-F63F-4C6D-BE43-18AF0E6D6B35}" type="sibTrans" cxnId="{1C978312-D8A7-4ED4-9825-E5B012CC229C}">
      <dgm:prSet/>
      <dgm:spPr/>
      <dgm:t>
        <a:bodyPr/>
        <a:lstStyle/>
        <a:p>
          <a:endParaRPr lang="en-US"/>
        </a:p>
      </dgm:t>
    </dgm:pt>
    <dgm:pt modelId="{51354EB8-F4B7-466C-9584-B976A69B7898}">
      <dgm:prSet custT="1"/>
      <dgm:spPr/>
      <dgm:t>
        <a:bodyPr/>
        <a:lstStyle/>
        <a:p>
          <a:r>
            <a:rPr lang="en-US" sz="2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main aim of this project is to understand how products move through the supply chain and identify patterns, delays, and performance metrics.</a:t>
          </a:r>
        </a:p>
      </dgm:t>
    </dgm:pt>
    <dgm:pt modelId="{EF273C11-B97A-49BE-B3AE-5AFBF802F598}" type="parTrans" cxnId="{F50AF160-5F74-4B46-A050-A44230B1888A}">
      <dgm:prSet/>
      <dgm:spPr/>
      <dgm:t>
        <a:bodyPr/>
        <a:lstStyle/>
        <a:p>
          <a:endParaRPr lang="en-US"/>
        </a:p>
      </dgm:t>
    </dgm:pt>
    <dgm:pt modelId="{42775F64-D4A3-4DDE-87A1-ADA2CF0C1412}" type="sibTrans" cxnId="{F50AF160-5F74-4B46-A050-A44230B1888A}">
      <dgm:prSet/>
      <dgm:spPr/>
      <dgm:t>
        <a:bodyPr/>
        <a:lstStyle/>
        <a:p>
          <a:endParaRPr lang="en-US"/>
        </a:p>
      </dgm:t>
    </dgm:pt>
    <dgm:pt modelId="{A7E99B1A-7F4F-48E4-A4AB-C3BDE58A0FBD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analysis helps in understanding operational efficiency and business performance.</a:t>
          </a:r>
        </a:p>
      </dgm:t>
    </dgm:pt>
    <dgm:pt modelId="{5F7BDD3E-0441-474B-80C2-24AA29B7E110}" type="parTrans" cxnId="{3EC1EE8F-7A9D-41C4-9ACA-AAD232F23776}">
      <dgm:prSet/>
      <dgm:spPr/>
      <dgm:t>
        <a:bodyPr/>
        <a:lstStyle/>
        <a:p>
          <a:endParaRPr lang="en-US"/>
        </a:p>
      </dgm:t>
    </dgm:pt>
    <dgm:pt modelId="{C3892E5C-B8C6-459D-B8BB-F673D25B0876}" type="sibTrans" cxnId="{3EC1EE8F-7A9D-41C4-9ACA-AAD232F23776}">
      <dgm:prSet/>
      <dgm:spPr/>
      <dgm:t>
        <a:bodyPr/>
        <a:lstStyle/>
        <a:p>
          <a:endParaRPr lang="en-US"/>
        </a:p>
      </dgm:t>
    </dgm:pt>
    <dgm:pt modelId="{AD277291-9103-463D-A4A8-1C76E7514225}" type="pres">
      <dgm:prSet presAssocID="{E533BEAC-1B12-4823-A194-92A7EA804EC8}" presName="root" presStyleCnt="0">
        <dgm:presLayoutVars>
          <dgm:dir/>
          <dgm:resizeHandles val="exact"/>
        </dgm:presLayoutVars>
      </dgm:prSet>
      <dgm:spPr/>
    </dgm:pt>
    <dgm:pt modelId="{2A288A02-B764-41ED-944F-1261F1F90EC6}" type="pres">
      <dgm:prSet presAssocID="{8CD79B55-DF05-41EA-AF26-6D645BA784DA}" presName="compNode" presStyleCnt="0"/>
      <dgm:spPr/>
    </dgm:pt>
    <dgm:pt modelId="{10D2CFCF-762C-4C94-96B1-2A9AB42AAC50}" type="pres">
      <dgm:prSet presAssocID="{8CD79B55-DF05-41EA-AF26-6D645BA784DA}" presName="bgRect" presStyleLbl="bgShp" presStyleIdx="0" presStyleCnt="4"/>
      <dgm:spPr/>
    </dgm:pt>
    <dgm:pt modelId="{79EF2281-C67E-419E-9C77-485B34289735}" type="pres">
      <dgm:prSet presAssocID="{8CD79B55-DF05-41EA-AF26-6D645BA784D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5B7883E-0649-443D-AD93-028C0A2015B7}" type="pres">
      <dgm:prSet presAssocID="{8CD79B55-DF05-41EA-AF26-6D645BA784DA}" presName="spaceRect" presStyleCnt="0"/>
      <dgm:spPr/>
    </dgm:pt>
    <dgm:pt modelId="{F26BFB22-987D-48A0-96C1-897D7006DB62}" type="pres">
      <dgm:prSet presAssocID="{8CD79B55-DF05-41EA-AF26-6D645BA784DA}" presName="parTx" presStyleLbl="revTx" presStyleIdx="0" presStyleCnt="4">
        <dgm:presLayoutVars>
          <dgm:chMax val="0"/>
          <dgm:chPref val="0"/>
        </dgm:presLayoutVars>
      </dgm:prSet>
      <dgm:spPr/>
    </dgm:pt>
    <dgm:pt modelId="{86373EE8-E381-40E9-894D-FDCB641D90B0}" type="pres">
      <dgm:prSet presAssocID="{9E223A7D-96DF-4EF3-8940-26B06759A170}" presName="sibTrans" presStyleCnt="0"/>
      <dgm:spPr/>
    </dgm:pt>
    <dgm:pt modelId="{8638A2F2-E854-4707-B9B9-D3B80AFA4847}" type="pres">
      <dgm:prSet presAssocID="{CFCE2A5D-F2BC-4362-A424-DEDD01F77AD6}" presName="compNode" presStyleCnt="0"/>
      <dgm:spPr/>
    </dgm:pt>
    <dgm:pt modelId="{115B1A12-4AE0-4EB8-8D2C-6ED96B0B7166}" type="pres">
      <dgm:prSet presAssocID="{CFCE2A5D-F2BC-4362-A424-DEDD01F77AD6}" presName="bgRect" presStyleLbl="bgShp" presStyleIdx="1" presStyleCnt="4"/>
      <dgm:spPr/>
    </dgm:pt>
    <dgm:pt modelId="{7D39B9D1-8389-44E5-B327-5E16C2A25F83}" type="pres">
      <dgm:prSet presAssocID="{CFCE2A5D-F2BC-4362-A424-DEDD01F77AD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DDB4A14-7B03-4AC1-9333-CA434E0EC485}" type="pres">
      <dgm:prSet presAssocID="{CFCE2A5D-F2BC-4362-A424-DEDD01F77AD6}" presName="spaceRect" presStyleCnt="0"/>
      <dgm:spPr/>
    </dgm:pt>
    <dgm:pt modelId="{9AC51DAB-68AF-4803-95F0-3EF70E78DD7A}" type="pres">
      <dgm:prSet presAssocID="{CFCE2A5D-F2BC-4362-A424-DEDD01F77AD6}" presName="parTx" presStyleLbl="revTx" presStyleIdx="1" presStyleCnt="4">
        <dgm:presLayoutVars>
          <dgm:chMax val="0"/>
          <dgm:chPref val="0"/>
        </dgm:presLayoutVars>
      </dgm:prSet>
      <dgm:spPr/>
    </dgm:pt>
    <dgm:pt modelId="{365563CF-FA57-4490-B010-B40D9175F340}" type="pres">
      <dgm:prSet presAssocID="{8331E717-F63F-4C6D-BE43-18AF0E6D6B35}" presName="sibTrans" presStyleCnt="0"/>
      <dgm:spPr/>
    </dgm:pt>
    <dgm:pt modelId="{04094B4F-6F59-4EBC-A41A-8C05F506A083}" type="pres">
      <dgm:prSet presAssocID="{51354EB8-F4B7-466C-9584-B976A69B7898}" presName="compNode" presStyleCnt="0"/>
      <dgm:spPr/>
    </dgm:pt>
    <dgm:pt modelId="{5B525F3A-5D5D-42BF-940F-603A06D1B7B5}" type="pres">
      <dgm:prSet presAssocID="{51354EB8-F4B7-466C-9584-B976A69B7898}" presName="bgRect" presStyleLbl="bgShp" presStyleIdx="2" presStyleCnt="4"/>
      <dgm:spPr/>
    </dgm:pt>
    <dgm:pt modelId="{20ABA8D2-6E6D-4906-BE3D-77C1DD12B582}" type="pres">
      <dgm:prSet presAssocID="{51354EB8-F4B7-466C-9584-B976A69B78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13E20DF-EC83-4FB7-9BB7-2061F2939CDB}" type="pres">
      <dgm:prSet presAssocID="{51354EB8-F4B7-466C-9584-B976A69B7898}" presName="spaceRect" presStyleCnt="0"/>
      <dgm:spPr/>
    </dgm:pt>
    <dgm:pt modelId="{F80C2CD6-3082-4CD9-B988-A9501E3FAF30}" type="pres">
      <dgm:prSet presAssocID="{51354EB8-F4B7-466C-9584-B976A69B7898}" presName="parTx" presStyleLbl="revTx" presStyleIdx="2" presStyleCnt="4">
        <dgm:presLayoutVars>
          <dgm:chMax val="0"/>
          <dgm:chPref val="0"/>
        </dgm:presLayoutVars>
      </dgm:prSet>
      <dgm:spPr/>
    </dgm:pt>
    <dgm:pt modelId="{F680E2BE-6274-4CE2-8F98-C20AEBF3FD05}" type="pres">
      <dgm:prSet presAssocID="{42775F64-D4A3-4DDE-87A1-ADA2CF0C1412}" presName="sibTrans" presStyleCnt="0"/>
      <dgm:spPr/>
    </dgm:pt>
    <dgm:pt modelId="{ACB42709-E1BD-4D12-A37A-70273C23847A}" type="pres">
      <dgm:prSet presAssocID="{A7E99B1A-7F4F-48E4-A4AB-C3BDE58A0FBD}" presName="compNode" presStyleCnt="0"/>
      <dgm:spPr/>
    </dgm:pt>
    <dgm:pt modelId="{9C526685-7FDC-47C1-ABBE-738015755E30}" type="pres">
      <dgm:prSet presAssocID="{A7E99B1A-7F4F-48E4-A4AB-C3BDE58A0FBD}" presName="bgRect" presStyleLbl="bgShp" presStyleIdx="3" presStyleCnt="4"/>
      <dgm:spPr/>
    </dgm:pt>
    <dgm:pt modelId="{16DCF737-F087-492C-BC1C-EF1A97A13162}" type="pres">
      <dgm:prSet presAssocID="{A7E99B1A-7F4F-48E4-A4AB-C3BDE58A0FB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0D8E8E9-5C15-4D61-8157-21E4FB2C42EE}" type="pres">
      <dgm:prSet presAssocID="{A7E99B1A-7F4F-48E4-A4AB-C3BDE58A0FBD}" presName="spaceRect" presStyleCnt="0"/>
      <dgm:spPr/>
    </dgm:pt>
    <dgm:pt modelId="{7F2B55C4-4A86-4B37-8C3C-8154E70121A3}" type="pres">
      <dgm:prSet presAssocID="{A7E99B1A-7F4F-48E4-A4AB-C3BDE58A0FB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978312-D8A7-4ED4-9825-E5B012CC229C}" srcId="{E533BEAC-1B12-4823-A194-92A7EA804EC8}" destId="{CFCE2A5D-F2BC-4362-A424-DEDD01F77AD6}" srcOrd="1" destOrd="0" parTransId="{3D758703-8CCA-44B5-8162-D3D8716A0E03}" sibTransId="{8331E717-F63F-4C6D-BE43-18AF0E6D6B35}"/>
    <dgm:cxn modelId="{F50AF160-5F74-4B46-A050-A44230B1888A}" srcId="{E533BEAC-1B12-4823-A194-92A7EA804EC8}" destId="{51354EB8-F4B7-466C-9584-B976A69B7898}" srcOrd="2" destOrd="0" parTransId="{EF273C11-B97A-49BE-B3AE-5AFBF802F598}" sibTransId="{42775F64-D4A3-4DDE-87A1-ADA2CF0C1412}"/>
    <dgm:cxn modelId="{AE9A1643-4CAE-4899-A6E8-0C83E2BDAECB}" type="presOf" srcId="{E533BEAC-1B12-4823-A194-92A7EA804EC8}" destId="{AD277291-9103-463D-A4A8-1C76E7514225}" srcOrd="0" destOrd="0" presId="urn:microsoft.com/office/officeart/2018/2/layout/IconVerticalSolidList"/>
    <dgm:cxn modelId="{899A6F52-2263-4E47-914D-6A13B0CD0FD5}" type="presOf" srcId="{8CD79B55-DF05-41EA-AF26-6D645BA784DA}" destId="{F26BFB22-987D-48A0-96C1-897D7006DB62}" srcOrd="0" destOrd="0" presId="urn:microsoft.com/office/officeart/2018/2/layout/IconVerticalSolidList"/>
    <dgm:cxn modelId="{6D1FE98A-B2FA-411F-A018-DA62EBF59080}" type="presOf" srcId="{CFCE2A5D-F2BC-4362-A424-DEDD01F77AD6}" destId="{9AC51DAB-68AF-4803-95F0-3EF70E78DD7A}" srcOrd="0" destOrd="0" presId="urn:microsoft.com/office/officeart/2018/2/layout/IconVerticalSolidList"/>
    <dgm:cxn modelId="{3EC1EE8F-7A9D-41C4-9ACA-AAD232F23776}" srcId="{E533BEAC-1B12-4823-A194-92A7EA804EC8}" destId="{A7E99B1A-7F4F-48E4-A4AB-C3BDE58A0FBD}" srcOrd="3" destOrd="0" parTransId="{5F7BDD3E-0441-474B-80C2-24AA29B7E110}" sibTransId="{C3892E5C-B8C6-459D-B8BB-F673D25B0876}"/>
    <dgm:cxn modelId="{0EE7C9D5-5E36-4019-932B-0362BE325D3B}" type="presOf" srcId="{A7E99B1A-7F4F-48E4-A4AB-C3BDE58A0FBD}" destId="{7F2B55C4-4A86-4B37-8C3C-8154E70121A3}" srcOrd="0" destOrd="0" presId="urn:microsoft.com/office/officeart/2018/2/layout/IconVerticalSolidList"/>
    <dgm:cxn modelId="{6EA5F5F1-C93A-4214-B26E-FA97CD4A18AF}" type="presOf" srcId="{51354EB8-F4B7-466C-9584-B976A69B7898}" destId="{F80C2CD6-3082-4CD9-B988-A9501E3FAF30}" srcOrd="0" destOrd="0" presId="urn:microsoft.com/office/officeart/2018/2/layout/IconVerticalSolidList"/>
    <dgm:cxn modelId="{FE8ED8FE-D39B-4D4C-A475-3DE45B9A81A0}" srcId="{E533BEAC-1B12-4823-A194-92A7EA804EC8}" destId="{8CD79B55-DF05-41EA-AF26-6D645BA784DA}" srcOrd="0" destOrd="0" parTransId="{1AFDD370-1F0A-4F1D-9EF5-230BB4CC5A73}" sibTransId="{9E223A7D-96DF-4EF3-8940-26B06759A170}"/>
    <dgm:cxn modelId="{C14710D4-6949-4BBA-9CEB-379DAD59A5F8}" type="presParOf" srcId="{AD277291-9103-463D-A4A8-1C76E7514225}" destId="{2A288A02-B764-41ED-944F-1261F1F90EC6}" srcOrd="0" destOrd="0" presId="urn:microsoft.com/office/officeart/2018/2/layout/IconVerticalSolidList"/>
    <dgm:cxn modelId="{79A1FA13-1329-47E8-B605-260D7EC9484D}" type="presParOf" srcId="{2A288A02-B764-41ED-944F-1261F1F90EC6}" destId="{10D2CFCF-762C-4C94-96B1-2A9AB42AAC50}" srcOrd="0" destOrd="0" presId="urn:microsoft.com/office/officeart/2018/2/layout/IconVerticalSolidList"/>
    <dgm:cxn modelId="{35278BC4-D90B-4972-9BD2-ED8EA4200F7D}" type="presParOf" srcId="{2A288A02-B764-41ED-944F-1261F1F90EC6}" destId="{79EF2281-C67E-419E-9C77-485B34289735}" srcOrd="1" destOrd="0" presId="urn:microsoft.com/office/officeart/2018/2/layout/IconVerticalSolidList"/>
    <dgm:cxn modelId="{9F845F7A-23AE-4CB6-8364-AFD8B2BDC35F}" type="presParOf" srcId="{2A288A02-B764-41ED-944F-1261F1F90EC6}" destId="{D5B7883E-0649-443D-AD93-028C0A2015B7}" srcOrd="2" destOrd="0" presId="urn:microsoft.com/office/officeart/2018/2/layout/IconVerticalSolidList"/>
    <dgm:cxn modelId="{0EC761BE-B063-4DE1-A5A7-E92483379235}" type="presParOf" srcId="{2A288A02-B764-41ED-944F-1261F1F90EC6}" destId="{F26BFB22-987D-48A0-96C1-897D7006DB62}" srcOrd="3" destOrd="0" presId="urn:microsoft.com/office/officeart/2018/2/layout/IconVerticalSolidList"/>
    <dgm:cxn modelId="{DDBBEC04-4FD9-431D-AE57-8BCBF723A5C8}" type="presParOf" srcId="{AD277291-9103-463D-A4A8-1C76E7514225}" destId="{86373EE8-E381-40E9-894D-FDCB641D90B0}" srcOrd="1" destOrd="0" presId="urn:microsoft.com/office/officeart/2018/2/layout/IconVerticalSolidList"/>
    <dgm:cxn modelId="{DEC3D80E-19DA-44E8-95DF-C7201D5EFC6E}" type="presParOf" srcId="{AD277291-9103-463D-A4A8-1C76E7514225}" destId="{8638A2F2-E854-4707-B9B9-D3B80AFA4847}" srcOrd="2" destOrd="0" presId="urn:microsoft.com/office/officeart/2018/2/layout/IconVerticalSolidList"/>
    <dgm:cxn modelId="{DB512099-8087-4514-A261-73FDC32E65AC}" type="presParOf" srcId="{8638A2F2-E854-4707-B9B9-D3B80AFA4847}" destId="{115B1A12-4AE0-4EB8-8D2C-6ED96B0B7166}" srcOrd="0" destOrd="0" presId="urn:microsoft.com/office/officeart/2018/2/layout/IconVerticalSolidList"/>
    <dgm:cxn modelId="{7B1FDC2B-C933-44AB-8CDA-26B271BB8A13}" type="presParOf" srcId="{8638A2F2-E854-4707-B9B9-D3B80AFA4847}" destId="{7D39B9D1-8389-44E5-B327-5E16C2A25F83}" srcOrd="1" destOrd="0" presId="urn:microsoft.com/office/officeart/2018/2/layout/IconVerticalSolidList"/>
    <dgm:cxn modelId="{A0A12224-DB95-4FC1-9D0A-E05E8772EE7B}" type="presParOf" srcId="{8638A2F2-E854-4707-B9B9-D3B80AFA4847}" destId="{BDDB4A14-7B03-4AC1-9333-CA434E0EC485}" srcOrd="2" destOrd="0" presId="urn:microsoft.com/office/officeart/2018/2/layout/IconVerticalSolidList"/>
    <dgm:cxn modelId="{1905129A-4ECA-4720-B4A8-704EA4E4479F}" type="presParOf" srcId="{8638A2F2-E854-4707-B9B9-D3B80AFA4847}" destId="{9AC51DAB-68AF-4803-95F0-3EF70E78DD7A}" srcOrd="3" destOrd="0" presId="urn:microsoft.com/office/officeart/2018/2/layout/IconVerticalSolidList"/>
    <dgm:cxn modelId="{2631DC8D-0835-49CB-A28B-C9FB39CCC791}" type="presParOf" srcId="{AD277291-9103-463D-A4A8-1C76E7514225}" destId="{365563CF-FA57-4490-B010-B40D9175F340}" srcOrd="3" destOrd="0" presId="urn:microsoft.com/office/officeart/2018/2/layout/IconVerticalSolidList"/>
    <dgm:cxn modelId="{901BCEBD-C92B-46E1-BBF1-9764EC936FB0}" type="presParOf" srcId="{AD277291-9103-463D-A4A8-1C76E7514225}" destId="{04094B4F-6F59-4EBC-A41A-8C05F506A083}" srcOrd="4" destOrd="0" presId="urn:microsoft.com/office/officeart/2018/2/layout/IconVerticalSolidList"/>
    <dgm:cxn modelId="{44347815-AA7C-46ED-8589-F74AFA15D907}" type="presParOf" srcId="{04094B4F-6F59-4EBC-A41A-8C05F506A083}" destId="{5B525F3A-5D5D-42BF-940F-603A06D1B7B5}" srcOrd="0" destOrd="0" presId="urn:microsoft.com/office/officeart/2018/2/layout/IconVerticalSolidList"/>
    <dgm:cxn modelId="{81F53C61-1834-4137-B077-8C2395A96F3F}" type="presParOf" srcId="{04094B4F-6F59-4EBC-A41A-8C05F506A083}" destId="{20ABA8D2-6E6D-4906-BE3D-77C1DD12B582}" srcOrd="1" destOrd="0" presId="urn:microsoft.com/office/officeart/2018/2/layout/IconVerticalSolidList"/>
    <dgm:cxn modelId="{61EB778E-89F0-489C-B6E6-F2C8D1F509FF}" type="presParOf" srcId="{04094B4F-6F59-4EBC-A41A-8C05F506A083}" destId="{C13E20DF-EC83-4FB7-9BB7-2061F2939CDB}" srcOrd="2" destOrd="0" presId="urn:microsoft.com/office/officeart/2018/2/layout/IconVerticalSolidList"/>
    <dgm:cxn modelId="{ADD186DA-939B-413E-9FE9-03268EBBB7EB}" type="presParOf" srcId="{04094B4F-6F59-4EBC-A41A-8C05F506A083}" destId="{F80C2CD6-3082-4CD9-B988-A9501E3FAF30}" srcOrd="3" destOrd="0" presId="urn:microsoft.com/office/officeart/2018/2/layout/IconVerticalSolidList"/>
    <dgm:cxn modelId="{6DED0BC0-30CF-47FC-A531-B8BC2A06BF97}" type="presParOf" srcId="{AD277291-9103-463D-A4A8-1C76E7514225}" destId="{F680E2BE-6274-4CE2-8F98-C20AEBF3FD05}" srcOrd="5" destOrd="0" presId="urn:microsoft.com/office/officeart/2018/2/layout/IconVerticalSolidList"/>
    <dgm:cxn modelId="{D75022A1-D689-4BB7-8DD3-9CB6034E17EB}" type="presParOf" srcId="{AD277291-9103-463D-A4A8-1C76E7514225}" destId="{ACB42709-E1BD-4D12-A37A-70273C23847A}" srcOrd="6" destOrd="0" presId="urn:microsoft.com/office/officeart/2018/2/layout/IconVerticalSolidList"/>
    <dgm:cxn modelId="{26EC3375-19ED-493B-9597-05360DBC6F70}" type="presParOf" srcId="{ACB42709-E1BD-4D12-A37A-70273C23847A}" destId="{9C526685-7FDC-47C1-ABBE-738015755E30}" srcOrd="0" destOrd="0" presId="urn:microsoft.com/office/officeart/2018/2/layout/IconVerticalSolidList"/>
    <dgm:cxn modelId="{02ED1148-046C-4CAA-82C6-C776167CD962}" type="presParOf" srcId="{ACB42709-E1BD-4D12-A37A-70273C23847A}" destId="{16DCF737-F087-492C-BC1C-EF1A97A13162}" srcOrd="1" destOrd="0" presId="urn:microsoft.com/office/officeart/2018/2/layout/IconVerticalSolidList"/>
    <dgm:cxn modelId="{1A88397E-DFAD-405F-8D3C-3111102B0656}" type="presParOf" srcId="{ACB42709-E1BD-4D12-A37A-70273C23847A}" destId="{30D8E8E9-5C15-4D61-8157-21E4FB2C42EE}" srcOrd="2" destOrd="0" presId="urn:microsoft.com/office/officeart/2018/2/layout/IconVerticalSolidList"/>
    <dgm:cxn modelId="{672970A3-2074-4418-99E0-E5195B696C23}" type="presParOf" srcId="{ACB42709-E1BD-4D12-A37A-70273C23847A}" destId="{7F2B55C4-4A86-4B37-8C3C-8154E70121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2CAB51-DEC1-40E0-AD17-578E468EA5B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F519B4-A832-4AE6-A2F6-CFEF62A9F187}">
      <dgm:prSet custT="1"/>
      <dgm:spPr/>
      <dgm:t>
        <a:bodyPr/>
        <a:lstStyle/>
        <a:p>
          <a:pPr>
            <a:defRPr cap="all"/>
          </a:pP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clean and preprocess the supply chain dataset for analysis</a:t>
          </a:r>
          <a:r>
            <a:rPr lang="en-US" sz="1200" dirty="0"/>
            <a:t>.</a:t>
          </a:r>
        </a:p>
      </dgm:t>
    </dgm:pt>
    <dgm:pt modelId="{41B1612B-6A38-427C-822E-3A323A07830E}" type="parTrans" cxnId="{0FD2298A-78EE-4431-956C-BC8997FD8080}">
      <dgm:prSet/>
      <dgm:spPr/>
      <dgm:t>
        <a:bodyPr/>
        <a:lstStyle/>
        <a:p>
          <a:endParaRPr lang="en-US"/>
        </a:p>
      </dgm:t>
    </dgm:pt>
    <dgm:pt modelId="{91C4BA4A-5716-4C5E-87D6-10BE343FD5C3}" type="sibTrans" cxnId="{0FD2298A-78EE-4431-956C-BC8997FD8080}">
      <dgm:prSet/>
      <dgm:spPr/>
      <dgm:t>
        <a:bodyPr/>
        <a:lstStyle/>
        <a:p>
          <a:endParaRPr lang="en-US"/>
        </a:p>
      </dgm:t>
    </dgm:pt>
    <dgm:pt modelId="{D759CB7B-FAD2-47BB-B84D-FAA2EA89D4E1}">
      <dgm:prSet custT="1"/>
      <dgm:spPr/>
      <dgm:t>
        <a:bodyPr/>
        <a:lstStyle/>
        <a:p>
          <a:pPr>
            <a:defRPr cap="all"/>
          </a:pP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study the flow of orders from procurement to delivery.</a:t>
          </a:r>
        </a:p>
      </dgm:t>
    </dgm:pt>
    <dgm:pt modelId="{419BC79A-D036-4AFC-B940-319A7C58E0DF}" type="parTrans" cxnId="{7E400D4F-1287-4DD5-8366-5EAB698A43A7}">
      <dgm:prSet/>
      <dgm:spPr/>
      <dgm:t>
        <a:bodyPr/>
        <a:lstStyle/>
        <a:p>
          <a:endParaRPr lang="en-US"/>
        </a:p>
      </dgm:t>
    </dgm:pt>
    <dgm:pt modelId="{80A0E6A7-73A7-4219-84F1-B1586EDD457E}" type="sibTrans" cxnId="{7E400D4F-1287-4DD5-8366-5EAB698A43A7}">
      <dgm:prSet/>
      <dgm:spPr/>
      <dgm:t>
        <a:bodyPr/>
        <a:lstStyle/>
        <a:p>
          <a:endParaRPr lang="en-US"/>
        </a:p>
      </dgm:t>
    </dgm:pt>
    <dgm:pt modelId="{D596FA17-2299-4EF7-84FB-BB30DE074228}">
      <dgm:prSet custT="1"/>
      <dgm:spPr/>
      <dgm:t>
        <a:bodyPr/>
        <a:lstStyle/>
        <a:p>
          <a:pPr>
            <a:defRPr cap="all"/>
          </a:pP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calculate important KPIs such as Revenue, Cost, and Profit.</a:t>
          </a:r>
        </a:p>
      </dgm:t>
    </dgm:pt>
    <dgm:pt modelId="{7959E80C-0DB0-4F82-9AF0-E65B5B020862}" type="parTrans" cxnId="{6A8A3574-0459-43C8-A2EE-04ECCD9F49BF}">
      <dgm:prSet/>
      <dgm:spPr/>
      <dgm:t>
        <a:bodyPr/>
        <a:lstStyle/>
        <a:p>
          <a:endParaRPr lang="en-US"/>
        </a:p>
      </dgm:t>
    </dgm:pt>
    <dgm:pt modelId="{5AE20181-2F5B-4B72-B1AC-041F18D4A265}" type="sibTrans" cxnId="{6A8A3574-0459-43C8-A2EE-04ECCD9F49BF}">
      <dgm:prSet/>
      <dgm:spPr/>
      <dgm:t>
        <a:bodyPr/>
        <a:lstStyle/>
        <a:p>
          <a:endParaRPr lang="en-US"/>
        </a:p>
      </dgm:t>
    </dgm:pt>
    <dgm:pt modelId="{14D2A38F-564B-4383-BF93-B6DC08630497}">
      <dgm:prSet custT="1"/>
      <dgm:spPr/>
      <dgm:t>
        <a:bodyPr/>
        <a:lstStyle/>
        <a:p>
          <a:pPr>
            <a:defRPr cap="all"/>
          </a:pP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identify delays in the supply chain process</a:t>
          </a:r>
          <a:r>
            <a:rPr lang="en-US" sz="1100" dirty="0"/>
            <a:t>.</a:t>
          </a:r>
        </a:p>
      </dgm:t>
    </dgm:pt>
    <dgm:pt modelId="{564460FA-2571-4389-B2F7-9CC6EFC7435B}" type="parTrans" cxnId="{7C70DDBB-6CE2-4FCF-B775-95DA3CA864A7}">
      <dgm:prSet/>
      <dgm:spPr/>
      <dgm:t>
        <a:bodyPr/>
        <a:lstStyle/>
        <a:p>
          <a:endParaRPr lang="en-US"/>
        </a:p>
      </dgm:t>
    </dgm:pt>
    <dgm:pt modelId="{FF841828-7CE0-40A3-81A8-572D461D6128}" type="sibTrans" cxnId="{7C70DDBB-6CE2-4FCF-B775-95DA3CA864A7}">
      <dgm:prSet/>
      <dgm:spPr/>
      <dgm:t>
        <a:bodyPr/>
        <a:lstStyle/>
        <a:p>
          <a:endParaRPr lang="en-US"/>
        </a:p>
      </dgm:t>
    </dgm:pt>
    <dgm:pt modelId="{53E359D6-CECA-4F34-979F-2B7AB0D1D073}">
      <dgm:prSet custT="1"/>
      <dgm:spPr/>
      <dgm:t>
        <a:bodyPr/>
        <a:lstStyle/>
        <a:p>
          <a:pPr>
            <a:defRPr cap="all"/>
          </a:pP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analyze customer, product, and warehouse performance.</a:t>
          </a:r>
        </a:p>
      </dgm:t>
    </dgm:pt>
    <dgm:pt modelId="{767F5EA8-0D70-4CEE-A31E-857099A05415}" type="parTrans" cxnId="{31954B67-A96F-418E-9766-8F14E1FE56AB}">
      <dgm:prSet/>
      <dgm:spPr/>
      <dgm:t>
        <a:bodyPr/>
        <a:lstStyle/>
        <a:p>
          <a:endParaRPr lang="en-US"/>
        </a:p>
      </dgm:t>
    </dgm:pt>
    <dgm:pt modelId="{2F8AF97C-C6F0-44ED-9078-5B3FDC8E1053}" type="sibTrans" cxnId="{31954B67-A96F-418E-9766-8F14E1FE56AB}">
      <dgm:prSet/>
      <dgm:spPr/>
      <dgm:t>
        <a:bodyPr/>
        <a:lstStyle/>
        <a:p>
          <a:endParaRPr lang="en-US"/>
        </a:p>
      </dgm:t>
    </dgm:pt>
    <dgm:pt modelId="{2712D8CB-42BA-4C8D-B950-C76337A2514C}">
      <dgm:prSet custT="1"/>
      <dgm:spPr/>
      <dgm:t>
        <a:bodyPr/>
        <a:lstStyle/>
        <a:p>
          <a:pPr>
            <a:defRPr cap="all"/>
          </a:pP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generate meaningful visualizations to support insights.</a:t>
          </a:r>
        </a:p>
      </dgm:t>
    </dgm:pt>
    <dgm:pt modelId="{DCA2D8A4-598A-4D7C-8C3C-B5D671773FF6}" type="parTrans" cxnId="{E5F6245B-D62B-479C-8807-9D577A0AE6AE}">
      <dgm:prSet/>
      <dgm:spPr/>
      <dgm:t>
        <a:bodyPr/>
        <a:lstStyle/>
        <a:p>
          <a:endParaRPr lang="en-US"/>
        </a:p>
      </dgm:t>
    </dgm:pt>
    <dgm:pt modelId="{C14E563E-274E-4266-A2C6-02BED68E4EA3}" type="sibTrans" cxnId="{E5F6245B-D62B-479C-8807-9D577A0AE6AE}">
      <dgm:prSet/>
      <dgm:spPr/>
      <dgm:t>
        <a:bodyPr/>
        <a:lstStyle/>
        <a:p>
          <a:endParaRPr lang="en-US"/>
        </a:p>
      </dgm:t>
    </dgm:pt>
    <dgm:pt modelId="{B1BF2727-1E0E-4BDC-8B79-369223EF99DA}" type="pres">
      <dgm:prSet presAssocID="{1D2CAB51-DEC1-40E0-AD17-578E468EA5B2}" presName="root" presStyleCnt="0">
        <dgm:presLayoutVars>
          <dgm:dir/>
          <dgm:resizeHandles val="exact"/>
        </dgm:presLayoutVars>
      </dgm:prSet>
      <dgm:spPr/>
    </dgm:pt>
    <dgm:pt modelId="{F16D627B-49EA-482C-936D-2B506D11456A}" type="pres">
      <dgm:prSet presAssocID="{F0F519B4-A832-4AE6-A2F6-CFEF62A9F187}" presName="compNode" presStyleCnt="0"/>
      <dgm:spPr/>
    </dgm:pt>
    <dgm:pt modelId="{7FF727A3-C1B3-4062-B256-5F00C905F80C}" type="pres">
      <dgm:prSet presAssocID="{F0F519B4-A832-4AE6-A2F6-CFEF62A9F187}" presName="iconBgRect" presStyleLbl="bgShp" presStyleIdx="0" presStyleCnt="6"/>
      <dgm:spPr/>
    </dgm:pt>
    <dgm:pt modelId="{F0335418-1035-4A31-9BD2-91894AFDCA3A}" type="pres">
      <dgm:prSet presAssocID="{F0F519B4-A832-4AE6-A2F6-CFEF62A9F18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82F14B6-14D5-4AEE-ADDC-178FEFA35731}" type="pres">
      <dgm:prSet presAssocID="{F0F519B4-A832-4AE6-A2F6-CFEF62A9F187}" presName="spaceRect" presStyleCnt="0"/>
      <dgm:spPr/>
    </dgm:pt>
    <dgm:pt modelId="{DADC9E3D-CCD5-4575-8AF1-9CE1273D5569}" type="pres">
      <dgm:prSet presAssocID="{F0F519B4-A832-4AE6-A2F6-CFEF62A9F187}" presName="textRect" presStyleLbl="revTx" presStyleIdx="0" presStyleCnt="6">
        <dgm:presLayoutVars>
          <dgm:chMax val="1"/>
          <dgm:chPref val="1"/>
        </dgm:presLayoutVars>
      </dgm:prSet>
      <dgm:spPr/>
    </dgm:pt>
    <dgm:pt modelId="{56D212B9-8790-4216-972E-55B85B05EE39}" type="pres">
      <dgm:prSet presAssocID="{91C4BA4A-5716-4C5E-87D6-10BE343FD5C3}" presName="sibTrans" presStyleCnt="0"/>
      <dgm:spPr/>
    </dgm:pt>
    <dgm:pt modelId="{1539F915-4F49-4CD6-BF4F-6A26F8FCE517}" type="pres">
      <dgm:prSet presAssocID="{D759CB7B-FAD2-47BB-B84D-FAA2EA89D4E1}" presName="compNode" presStyleCnt="0"/>
      <dgm:spPr/>
    </dgm:pt>
    <dgm:pt modelId="{ADA7753C-C7AA-47A8-8CA0-96BE46C45C28}" type="pres">
      <dgm:prSet presAssocID="{D759CB7B-FAD2-47BB-B84D-FAA2EA89D4E1}" presName="iconBgRect" presStyleLbl="bgShp" presStyleIdx="1" presStyleCnt="6"/>
      <dgm:spPr/>
    </dgm:pt>
    <dgm:pt modelId="{63E13385-94B4-4863-9B7F-1AAE7EB4D43E}" type="pres">
      <dgm:prSet presAssocID="{D759CB7B-FAD2-47BB-B84D-FAA2EA89D4E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9A728D1E-E446-4910-A544-785C57B0F5EA}" type="pres">
      <dgm:prSet presAssocID="{D759CB7B-FAD2-47BB-B84D-FAA2EA89D4E1}" presName="spaceRect" presStyleCnt="0"/>
      <dgm:spPr/>
    </dgm:pt>
    <dgm:pt modelId="{E7B6BD9C-310E-4267-96D6-F369663F675F}" type="pres">
      <dgm:prSet presAssocID="{D759CB7B-FAD2-47BB-B84D-FAA2EA89D4E1}" presName="textRect" presStyleLbl="revTx" presStyleIdx="1" presStyleCnt="6">
        <dgm:presLayoutVars>
          <dgm:chMax val="1"/>
          <dgm:chPref val="1"/>
        </dgm:presLayoutVars>
      </dgm:prSet>
      <dgm:spPr/>
    </dgm:pt>
    <dgm:pt modelId="{038F29DB-F80F-4FA4-8502-41019AFE6290}" type="pres">
      <dgm:prSet presAssocID="{80A0E6A7-73A7-4219-84F1-B1586EDD457E}" presName="sibTrans" presStyleCnt="0"/>
      <dgm:spPr/>
    </dgm:pt>
    <dgm:pt modelId="{E054B43F-DA1A-4B25-B0F4-0D88DEF105D8}" type="pres">
      <dgm:prSet presAssocID="{D596FA17-2299-4EF7-84FB-BB30DE074228}" presName="compNode" presStyleCnt="0"/>
      <dgm:spPr/>
    </dgm:pt>
    <dgm:pt modelId="{DFE1D0E3-C789-411E-A44D-746F053ECEB9}" type="pres">
      <dgm:prSet presAssocID="{D596FA17-2299-4EF7-84FB-BB30DE074228}" presName="iconBgRect" presStyleLbl="bgShp" presStyleIdx="2" presStyleCnt="6"/>
      <dgm:spPr/>
    </dgm:pt>
    <dgm:pt modelId="{B3B3C391-4B0A-4CAB-AE7E-48D05303F823}" type="pres">
      <dgm:prSet presAssocID="{D596FA17-2299-4EF7-84FB-BB30DE07422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3B94A00A-C461-4E57-A6E0-8CB4133A5055}" type="pres">
      <dgm:prSet presAssocID="{D596FA17-2299-4EF7-84FB-BB30DE074228}" presName="spaceRect" presStyleCnt="0"/>
      <dgm:spPr/>
    </dgm:pt>
    <dgm:pt modelId="{E0624253-BFA7-42F8-B971-F29EB77FF9D5}" type="pres">
      <dgm:prSet presAssocID="{D596FA17-2299-4EF7-84FB-BB30DE074228}" presName="textRect" presStyleLbl="revTx" presStyleIdx="2" presStyleCnt="6">
        <dgm:presLayoutVars>
          <dgm:chMax val="1"/>
          <dgm:chPref val="1"/>
        </dgm:presLayoutVars>
      </dgm:prSet>
      <dgm:spPr/>
    </dgm:pt>
    <dgm:pt modelId="{CF8981D0-BDC8-4869-BEC7-B315AEB70D34}" type="pres">
      <dgm:prSet presAssocID="{5AE20181-2F5B-4B72-B1AC-041F18D4A265}" presName="sibTrans" presStyleCnt="0"/>
      <dgm:spPr/>
    </dgm:pt>
    <dgm:pt modelId="{F9C0B409-3992-4E4F-9513-30D6841478DB}" type="pres">
      <dgm:prSet presAssocID="{14D2A38F-564B-4383-BF93-B6DC08630497}" presName="compNode" presStyleCnt="0"/>
      <dgm:spPr/>
    </dgm:pt>
    <dgm:pt modelId="{A9F682B4-9D79-42CA-AB59-C4BB934C00EF}" type="pres">
      <dgm:prSet presAssocID="{14D2A38F-564B-4383-BF93-B6DC08630497}" presName="iconBgRect" presStyleLbl="bgShp" presStyleIdx="3" presStyleCnt="6"/>
      <dgm:spPr/>
    </dgm:pt>
    <dgm:pt modelId="{6607B444-2497-4058-8CA1-07A715F48BC8}" type="pres">
      <dgm:prSet presAssocID="{14D2A38F-564B-4383-BF93-B6DC0863049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B607EB2-BC85-4968-AEE7-62DBDBFF6A45}" type="pres">
      <dgm:prSet presAssocID="{14D2A38F-564B-4383-BF93-B6DC08630497}" presName="spaceRect" presStyleCnt="0"/>
      <dgm:spPr/>
    </dgm:pt>
    <dgm:pt modelId="{E1751DD9-9807-449A-B7A6-09B8DA195439}" type="pres">
      <dgm:prSet presAssocID="{14D2A38F-564B-4383-BF93-B6DC08630497}" presName="textRect" presStyleLbl="revTx" presStyleIdx="3" presStyleCnt="6">
        <dgm:presLayoutVars>
          <dgm:chMax val="1"/>
          <dgm:chPref val="1"/>
        </dgm:presLayoutVars>
      </dgm:prSet>
      <dgm:spPr/>
    </dgm:pt>
    <dgm:pt modelId="{1061D7D2-E711-48C4-9F1B-4F07D8E60774}" type="pres">
      <dgm:prSet presAssocID="{FF841828-7CE0-40A3-81A8-572D461D6128}" presName="sibTrans" presStyleCnt="0"/>
      <dgm:spPr/>
    </dgm:pt>
    <dgm:pt modelId="{0F4013D4-B0A1-4D35-B2FD-402B8BE3F65D}" type="pres">
      <dgm:prSet presAssocID="{53E359D6-CECA-4F34-979F-2B7AB0D1D073}" presName="compNode" presStyleCnt="0"/>
      <dgm:spPr/>
    </dgm:pt>
    <dgm:pt modelId="{726B81E4-0CEB-401B-91E2-62689EE4624D}" type="pres">
      <dgm:prSet presAssocID="{53E359D6-CECA-4F34-979F-2B7AB0D1D073}" presName="iconBgRect" presStyleLbl="bgShp" presStyleIdx="4" presStyleCnt="6"/>
      <dgm:spPr/>
    </dgm:pt>
    <dgm:pt modelId="{6F31E0FC-63BE-4BC3-A6BB-A0DAFA5F4966}" type="pres">
      <dgm:prSet presAssocID="{53E359D6-CECA-4F34-979F-2B7AB0D1D07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E009AA1-E109-4665-8189-8D3A3316232D}" type="pres">
      <dgm:prSet presAssocID="{53E359D6-CECA-4F34-979F-2B7AB0D1D073}" presName="spaceRect" presStyleCnt="0"/>
      <dgm:spPr/>
    </dgm:pt>
    <dgm:pt modelId="{5D48C02F-22F6-4161-B5D0-125904E3FC34}" type="pres">
      <dgm:prSet presAssocID="{53E359D6-CECA-4F34-979F-2B7AB0D1D073}" presName="textRect" presStyleLbl="revTx" presStyleIdx="4" presStyleCnt="6">
        <dgm:presLayoutVars>
          <dgm:chMax val="1"/>
          <dgm:chPref val="1"/>
        </dgm:presLayoutVars>
      </dgm:prSet>
      <dgm:spPr/>
    </dgm:pt>
    <dgm:pt modelId="{7D91FD60-A488-403E-B664-D355484BA79B}" type="pres">
      <dgm:prSet presAssocID="{2F8AF97C-C6F0-44ED-9078-5B3FDC8E1053}" presName="sibTrans" presStyleCnt="0"/>
      <dgm:spPr/>
    </dgm:pt>
    <dgm:pt modelId="{C585CC3B-9834-4A82-9113-10FBEE390FD6}" type="pres">
      <dgm:prSet presAssocID="{2712D8CB-42BA-4C8D-B950-C76337A2514C}" presName="compNode" presStyleCnt="0"/>
      <dgm:spPr/>
    </dgm:pt>
    <dgm:pt modelId="{BE5CA668-D80F-4F21-81C1-A61105AE3DD3}" type="pres">
      <dgm:prSet presAssocID="{2712D8CB-42BA-4C8D-B950-C76337A2514C}" presName="iconBgRect" presStyleLbl="bgShp" presStyleIdx="5" presStyleCnt="6"/>
      <dgm:spPr/>
    </dgm:pt>
    <dgm:pt modelId="{55CB1242-0F08-4B40-B0C4-DE3DA01B6F6A}" type="pres">
      <dgm:prSet presAssocID="{2712D8CB-42BA-4C8D-B950-C76337A2514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AA210C69-EF93-4A3C-808B-90751ED6851E}" type="pres">
      <dgm:prSet presAssocID="{2712D8CB-42BA-4C8D-B950-C76337A2514C}" presName="spaceRect" presStyleCnt="0"/>
      <dgm:spPr/>
    </dgm:pt>
    <dgm:pt modelId="{DC6628C4-473C-4B42-A251-BAF19FEDE2D9}" type="pres">
      <dgm:prSet presAssocID="{2712D8CB-42BA-4C8D-B950-C76337A2514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0DA7131-54C6-415D-82FC-5A326EBCB3CB}" type="presOf" srcId="{53E359D6-CECA-4F34-979F-2B7AB0D1D073}" destId="{5D48C02F-22F6-4161-B5D0-125904E3FC34}" srcOrd="0" destOrd="0" presId="urn:microsoft.com/office/officeart/2018/5/layout/IconCircleLabelList"/>
    <dgm:cxn modelId="{E5F6245B-D62B-479C-8807-9D577A0AE6AE}" srcId="{1D2CAB51-DEC1-40E0-AD17-578E468EA5B2}" destId="{2712D8CB-42BA-4C8D-B950-C76337A2514C}" srcOrd="5" destOrd="0" parTransId="{DCA2D8A4-598A-4D7C-8C3C-B5D671773FF6}" sibTransId="{C14E563E-274E-4266-A2C6-02BED68E4EA3}"/>
    <dgm:cxn modelId="{606E9941-9D30-49A2-A778-DFC95BD2D61D}" type="presOf" srcId="{14D2A38F-564B-4383-BF93-B6DC08630497}" destId="{E1751DD9-9807-449A-B7A6-09B8DA195439}" srcOrd="0" destOrd="0" presId="urn:microsoft.com/office/officeart/2018/5/layout/IconCircleLabelList"/>
    <dgm:cxn modelId="{44781966-2CCA-43C6-88D8-F7B0D33FB520}" type="presOf" srcId="{1D2CAB51-DEC1-40E0-AD17-578E468EA5B2}" destId="{B1BF2727-1E0E-4BDC-8B79-369223EF99DA}" srcOrd="0" destOrd="0" presId="urn:microsoft.com/office/officeart/2018/5/layout/IconCircleLabelList"/>
    <dgm:cxn modelId="{31954B67-A96F-418E-9766-8F14E1FE56AB}" srcId="{1D2CAB51-DEC1-40E0-AD17-578E468EA5B2}" destId="{53E359D6-CECA-4F34-979F-2B7AB0D1D073}" srcOrd="4" destOrd="0" parTransId="{767F5EA8-0D70-4CEE-A31E-857099A05415}" sibTransId="{2F8AF97C-C6F0-44ED-9078-5B3FDC8E1053}"/>
    <dgm:cxn modelId="{7E400D4F-1287-4DD5-8366-5EAB698A43A7}" srcId="{1D2CAB51-DEC1-40E0-AD17-578E468EA5B2}" destId="{D759CB7B-FAD2-47BB-B84D-FAA2EA89D4E1}" srcOrd="1" destOrd="0" parTransId="{419BC79A-D036-4AFC-B940-319A7C58E0DF}" sibTransId="{80A0E6A7-73A7-4219-84F1-B1586EDD457E}"/>
    <dgm:cxn modelId="{6A8A3574-0459-43C8-A2EE-04ECCD9F49BF}" srcId="{1D2CAB51-DEC1-40E0-AD17-578E468EA5B2}" destId="{D596FA17-2299-4EF7-84FB-BB30DE074228}" srcOrd="2" destOrd="0" parTransId="{7959E80C-0DB0-4F82-9AF0-E65B5B020862}" sibTransId="{5AE20181-2F5B-4B72-B1AC-041F18D4A265}"/>
    <dgm:cxn modelId="{F2F8F57A-DCF7-485B-AB22-B2E67EA3636F}" type="presOf" srcId="{D759CB7B-FAD2-47BB-B84D-FAA2EA89D4E1}" destId="{E7B6BD9C-310E-4267-96D6-F369663F675F}" srcOrd="0" destOrd="0" presId="urn:microsoft.com/office/officeart/2018/5/layout/IconCircleLabelList"/>
    <dgm:cxn modelId="{AB44BD7D-F4F1-4452-B9CF-EA595033FA8F}" type="presOf" srcId="{D596FA17-2299-4EF7-84FB-BB30DE074228}" destId="{E0624253-BFA7-42F8-B971-F29EB77FF9D5}" srcOrd="0" destOrd="0" presId="urn:microsoft.com/office/officeart/2018/5/layout/IconCircleLabelList"/>
    <dgm:cxn modelId="{0FD2298A-78EE-4431-956C-BC8997FD8080}" srcId="{1D2CAB51-DEC1-40E0-AD17-578E468EA5B2}" destId="{F0F519B4-A832-4AE6-A2F6-CFEF62A9F187}" srcOrd="0" destOrd="0" parTransId="{41B1612B-6A38-427C-822E-3A323A07830E}" sibTransId="{91C4BA4A-5716-4C5E-87D6-10BE343FD5C3}"/>
    <dgm:cxn modelId="{7EC2C8B0-F5AE-4F8C-AB48-5AACC6D1F11D}" type="presOf" srcId="{2712D8CB-42BA-4C8D-B950-C76337A2514C}" destId="{DC6628C4-473C-4B42-A251-BAF19FEDE2D9}" srcOrd="0" destOrd="0" presId="urn:microsoft.com/office/officeart/2018/5/layout/IconCircleLabelList"/>
    <dgm:cxn modelId="{7C70DDBB-6CE2-4FCF-B775-95DA3CA864A7}" srcId="{1D2CAB51-DEC1-40E0-AD17-578E468EA5B2}" destId="{14D2A38F-564B-4383-BF93-B6DC08630497}" srcOrd="3" destOrd="0" parTransId="{564460FA-2571-4389-B2F7-9CC6EFC7435B}" sibTransId="{FF841828-7CE0-40A3-81A8-572D461D6128}"/>
    <dgm:cxn modelId="{F26A19CC-C6C5-490A-AE37-E003505CAF61}" type="presOf" srcId="{F0F519B4-A832-4AE6-A2F6-CFEF62A9F187}" destId="{DADC9E3D-CCD5-4575-8AF1-9CE1273D5569}" srcOrd="0" destOrd="0" presId="urn:microsoft.com/office/officeart/2018/5/layout/IconCircleLabelList"/>
    <dgm:cxn modelId="{ED8AC004-4621-482E-89C2-DA1C219CFC1D}" type="presParOf" srcId="{B1BF2727-1E0E-4BDC-8B79-369223EF99DA}" destId="{F16D627B-49EA-482C-936D-2B506D11456A}" srcOrd="0" destOrd="0" presId="urn:microsoft.com/office/officeart/2018/5/layout/IconCircleLabelList"/>
    <dgm:cxn modelId="{3E72EE67-01A2-4D0A-AA4A-84D597283494}" type="presParOf" srcId="{F16D627B-49EA-482C-936D-2B506D11456A}" destId="{7FF727A3-C1B3-4062-B256-5F00C905F80C}" srcOrd="0" destOrd="0" presId="urn:microsoft.com/office/officeart/2018/5/layout/IconCircleLabelList"/>
    <dgm:cxn modelId="{FA8CF5F5-2BF5-469A-A791-4429DD133102}" type="presParOf" srcId="{F16D627B-49EA-482C-936D-2B506D11456A}" destId="{F0335418-1035-4A31-9BD2-91894AFDCA3A}" srcOrd="1" destOrd="0" presId="urn:microsoft.com/office/officeart/2018/5/layout/IconCircleLabelList"/>
    <dgm:cxn modelId="{AF8F0FE2-94D3-4E84-ADA7-72A0D8AAE253}" type="presParOf" srcId="{F16D627B-49EA-482C-936D-2B506D11456A}" destId="{782F14B6-14D5-4AEE-ADDC-178FEFA35731}" srcOrd="2" destOrd="0" presId="urn:microsoft.com/office/officeart/2018/5/layout/IconCircleLabelList"/>
    <dgm:cxn modelId="{724A1337-1DDE-4DE1-98A6-606AB4C22189}" type="presParOf" srcId="{F16D627B-49EA-482C-936D-2B506D11456A}" destId="{DADC9E3D-CCD5-4575-8AF1-9CE1273D5569}" srcOrd="3" destOrd="0" presId="urn:microsoft.com/office/officeart/2018/5/layout/IconCircleLabelList"/>
    <dgm:cxn modelId="{AEA41DBD-B6BC-44C7-854C-FC2597EF3B84}" type="presParOf" srcId="{B1BF2727-1E0E-4BDC-8B79-369223EF99DA}" destId="{56D212B9-8790-4216-972E-55B85B05EE39}" srcOrd="1" destOrd="0" presId="urn:microsoft.com/office/officeart/2018/5/layout/IconCircleLabelList"/>
    <dgm:cxn modelId="{F20B54AF-FE07-4307-B0E7-D87C05584ABF}" type="presParOf" srcId="{B1BF2727-1E0E-4BDC-8B79-369223EF99DA}" destId="{1539F915-4F49-4CD6-BF4F-6A26F8FCE517}" srcOrd="2" destOrd="0" presId="urn:microsoft.com/office/officeart/2018/5/layout/IconCircleLabelList"/>
    <dgm:cxn modelId="{C80E614B-D699-4986-B323-9AD87F1CBF9C}" type="presParOf" srcId="{1539F915-4F49-4CD6-BF4F-6A26F8FCE517}" destId="{ADA7753C-C7AA-47A8-8CA0-96BE46C45C28}" srcOrd="0" destOrd="0" presId="urn:microsoft.com/office/officeart/2018/5/layout/IconCircleLabelList"/>
    <dgm:cxn modelId="{94D6B54D-7BEC-424E-B394-A54FA357AED6}" type="presParOf" srcId="{1539F915-4F49-4CD6-BF4F-6A26F8FCE517}" destId="{63E13385-94B4-4863-9B7F-1AAE7EB4D43E}" srcOrd="1" destOrd="0" presId="urn:microsoft.com/office/officeart/2018/5/layout/IconCircleLabelList"/>
    <dgm:cxn modelId="{1AD1A8D7-E259-47A0-8C5F-E907CB409A4C}" type="presParOf" srcId="{1539F915-4F49-4CD6-BF4F-6A26F8FCE517}" destId="{9A728D1E-E446-4910-A544-785C57B0F5EA}" srcOrd="2" destOrd="0" presId="urn:microsoft.com/office/officeart/2018/5/layout/IconCircleLabelList"/>
    <dgm:cxn modelId="{D4DC23E1-623E-44D9-B047-141652B7D583}" type="presParOf" srcId="{1539F915-4F49-4CD6-BF4F-6A26F8FCE517}" destId="{E7B6BD9C-310E-4267-96D6-F369663F675F}" srcOrd="3" destOrd="0" presId="urn:microsoft.com/office/officeart/2018/5/layout/IconCircleLabelList"/>
    <dgm:cxn modelId="{7A19FAB4-40D9-4197-B1B5-0163ACDD0B4F}" type="presParOf" srcId="{B1BF2727-1E0E-4BDC-8B79-369223EF99DA}" destId="{038F29DB-F80F-4FA4-8502-41019AFE6290}" srcOrd="3" destOrd="0" presId="urn:microsoft.com/office/officeart/2018/5/layout/IconCircleLabelList"/>
    <dgm:cxn modelId="{A037BC86-2E96-422C-9B2E-56C866F5FEF8}" type="presParOf" srcId="{B1BF2727-1E0E-4BDC-8B79-369223EF99DA}" destId="{E054B43F-DA1A-4B25-B0F4-0D88DEF105D8}" srcOrd="4" destOrd="0" presId="urn:microsoft.com/office/officeart/2018/5/layout/IconCircleLabelList"/>
    <dgm:cxn modelId="{2412BB2F-90BD-4C21-9133-E2533C862D69}" type="presParOf" srcId="{E054B43F-DA1A-4B25-B0F4-0D88DEF105D8}" destId="{DFE1D0E3-C789-411E-A44D-746F053ECEB9}" srcOrd="0" destOrd="0" presId="urn:microsoft.com/office/officeart/2018/5/layout/IconCircleLabelList"/>
    <dgm:cxn modelId="{E8144900-642E-4A81-8569-329E243866EF}" type="presParOf" srcId="{E054B43F-DA1A-4B25-B0F4-0D88DEF105D8}" destId="{B3B3C391-4B0A-4CAB-AE7E-48D05303F823}" srcOrd="1" destOrd="0" presId="urn:microsoft.com/office/officeart/2018/5/layout/IconCircleLabelList"/>
    <dgm:cxn modelId="{3404B962-5080-47D8-A87D-5AA2593C7F64}" type="presParOf" srcId="{E054B43F-DA1A-4B25-B0F4-0D88DEF105D8}" destId="{3B94A00A-C461-4E57-A6E0-8CB4133A5055}" srcOrd="2" destOrd="0" presId="urn:microsoft.com/office/officeart/2018/5/layout/IconCircleLabelList"/>
    <dgm:cxn modelId="{EE8B11B2-9939-4519-9DC3-D8F93DDE8546}" type="presParOf" srcId="{E054B43F-DA1A-4B25-B0F4-0D88DEF105D8}" destId="{E0624253-BFA7-42F8-B971-F29EB77FF9D5}" srcOrd="3" destOrd="0" presId="urn:microsoft.com/office/officeart/2018/5/layout/IconCircleLabelList"/>
    <dgm:cxn modelId="{44459F2D-3879-48F4-ABD7-0A184BA50D75}" type="presParOf" srcId="{B1BF2727-1E0E-4BDC-8B79-369223EF99DA}" destId="{CF8981D0-BDC8-4869-BEC7-B315AEB70D34}" srcOrd="5" destOrd="0" presId="urn:microsoft.com/office/officeart/2018/5/layout/IconCircleLabelList"/>
    <dgm:cxn modelId="{B0E60AE2-7F32-4652-9A42-75E703245EFA}" type="presParOf" srcId="{B1BF2727-1E0E-4BDC-8B79-369223EF99DA}" destId="{F9C0B409-3992-4E4F-9513-30D6841478DB}" srcOrd="6" destOrd="0" presId="urn:microsoft.com/office/officeart/2018/5/layout/IconCircleLabelList"/>
    <dgm:cxn modelId="{480E2AAD-E253-4ADE-A432-E37AEBBAC94D}" type="presParOf" srcId="{F9C0B409-3992-4E4F-9513-30D6841478DB}" destId="{A9F682B4-9D79-42CA-AB59-C4BB934C00EF}" srcOrd="0" destOrd="0" presId="urn:microsoft.com/office/officeart/2018/5/layout/IconCircleLabelList"/>
    <dgm:cxn modelId="{2CE2B7EA-C8FC-4769-B8E0-B8EBD57956D8}" type="presParOf" srcId="{F9C0B409-3992-4E4F-9513-30D6841478DB}" destId="{6607B444-2497-4058-8CA1-07A715F48BC8}" srcOrd="1" destOrd="0" presId="urn:microsoft.com/office/officeart/2018/5/layout/IconCircleLabelList"/>
    <dgm:cxn modelId="{0C0A50CD-116F-4674-94F0-DC7A35DAC073}" type="presParOf" srcId="{F9C0B409-3992-4E4F-9513-30D6841478DB}" destId="{5B607EB2-BC85-4968-AEE7-62DBDBFF6A45}" srcOrd="2" destOrd="0" presId="urn:microsoft.com/office/officeart/2018/5/layout/IconCircleLabelList"/>
    <dgm:cxn modelId="{79814047-6653-4FAC-A40B-8A6516FA2E48}" type="presParOf" srcId="{F9C0B409-3992-4E4F-9513-30D6841478DB}" destId="{E1751DD9-9807-449A-B7A6-09B8DA195439}" srcOrd="3" destOrd="0" presId="urn:microsoft.com/office/officeart/2018/5/layout/IconCircleLabelList"/>
    <dgm:cxn modelId="{0309A485-A59F-46F8-B8EB-54E092E14EA6}" type="presParOf" srcId="{B1BF2727-1E0E-4BDC-8B79-369223EF99DA}" destId="{1061D7D2-E711-48C4-9F1B-4F07D8E60774}" srcOrd="7" destOrd="0" presId="urn:microsoft.com/office/officeart/2018/5/layout/IconCircleLabelList"/>
    <dgm:cxn modelId="{A218EC9C-E1D7-4416-BCE1-7351521BBB64}" type="presParOf" srcId="{B1BF2727-1E0E-4BDC-8B79-369223EF99DA}" destId="{0F4013D4-B0A1-4D35-B2FD-402B8BE3F65D}" srcOrd="8" destOrd="0" presId="urn:microsoft.com/office/officeart/2018/5/layout/IconCircleLabelList"/>
    <dgm:cxn modelId="{12C63795-9AD9-44C5-8FFF-FB1563E786CE}" type="presParOf" srcId="{0F4013D4-B0A1-4D35-B2FD-402B8BE3F65D}" destId="{726B81E4-0CEB-401B-91E2-62689EE4624D}" srcOrd="0" destOrd="0" presId="urn:microsoft.com/office/officeart/2018/5/layout/IconCircleLabelList"/>
    <dgm:cxn modelId="{A196329F-3969-4B96-A3EA-4DE7E1603AEC}" type="presParOf" srcId="{0F4013D4-B0A1-4D35-B2FD-402B8BE3F65D}" destId="{6F31E0FC-63BE-4BC3-A6BB-A0DAFA5F4966}" srcOrd="1" destOrd="0" presId="urn:microsoft.com/office/officeart/2018/5/layout/IconCircleLabelList"/>
    <dgm:cxn modelId="{96311293-0005-483A-A8CD-654E47F28FC7}" type="presParOf" srcId="{0F4013D4-B0A1-4D35-B2FD-402B8BE3F65D}" destId="{BE009AA1-E109-4665-8189-8D3A3316232D}" srcOrd="2" destOrd="0" presId="urn:microsoft.com/office/officeart/2018/5/layout/IconCircleLabelList"/>
    <dgm:cxn modelId="{930D7871-C94E-413B-A329-6D3A8B96506E}" type="presParOf" srcId="{0F4013D4-B0A1-4D35-B2FD-402B8BE3F65D}" destId="{5D48C02F-22F6-4161-B5D0-125904E3FC34}" srcOrd="3" destOrd="0" presId="urn:microsoft.com/office/officeart/2018/5/layout/IconCircleLabelList"/>
    <dgm:cxn modelId="{AB9685B9-8D5C-4C55-8C48-937785B0E3E6}" type="presParOf" srcId="{B1BF2727-1E0E-4BDC-8B79-369223EF99DA}" destId="{7D91FD60-A488-403E-B664-D355484BA79B}" srcOrd="9" destOrd="0" presId="urn:microsoft.com/office/officeart/2018/5/layout/IconCircleLabelList"/>
    <dgm:cxn modelId="{1BF97469-EF28-4E1E-94FB-BC32C22F3221}" type="presParOf" srcId="{B1BF2727-1E0E-4BDC-8B79-369223EF99DA}" destId="{C585CC3B-9834-4A82-9113-10FBEE390FD6}" srcOrd="10" destOrd="0" presId="urn:microsoft.com/office/officeart/2018/5/layout/IconCircleLabelList"/>
    <dgm:cxn modelId="{B352B97D-940D-436E-935A-015B5BE1F904}" type="presParOf" srcId="{C585CC3B-9834-4A82-9113-10FBEE390FD6}" destId="{BE5CA668-D80F-4F21-81C1-A61105AE3DD3}" srcOrd="0" destOrd="0" presId="urn:microsoft.com/office/officeart/2018/5/layout/IconCircleLabelList"/>
    <dgm:cxn modelId="{93D80AE4-622D-40E0-944D-97418B088D9F}" type="presParOf" srcId="{C585CC3B-9834-4A82-9113-10FBEE390FD6}" destId="{55CB1242-0F08-4B40-B0C4-DE3DA01B6F6A}" srcOrd="1" destOrd="0" presId="urn:microsoft.com/office/officeart/2018/5/layout/IconCircleLabelList"/>
    <dgm:cxn modelId="{776BBE27-9080-4C41-9E3F-CFA782749C30}" type="presParOf" srcId="{C585CC3B-9834-4A82-9113-10FBEE390FD6}" destId="{AA210C69-EF93-4A3C-808B-90751ED6851E}" srcOrd="2" destOrd="0" presId="urn:microsoft.com/office/officeart/2018/5/layout/IconCircleLabelList"/>
    <dgm:cxn modelId="{E7773642-821E-4EFE-8105-46E6426EFB40}" type="presParOf" srcId="{C585CC3B-9834-4A82-9113-10FBEE390FD6}" destId="{DC6628C4-473C-4B42-A251-BAF19FEDE2D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A20B49-4979-48CE-A8FB-FB15421AEAB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CEBE17F-FAA0-4DA6-BF75-83D5AD3A74CC}">
      <dgm:prSet custT="1"/>
      <dgm:spPr/>
      <dgm:t>
        <a:bodyPr/>
        <a:lstStyle/>
        <a:p>
          <a:r>
            <a: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Used boxplots and Z-score to find extreme values in speed and damage cost.</a:t>
          </a:r>
        </a:p>
      </dgm:t>
    </dgm:pt>
    <dgm:pt modelId="{6E8F47E9-AACD-47CC-9F7A-8B334F18370C}" type="parTrans" cxnId="{A62D858B-BB02-4482-8292-57001CF4F473}">
      <dgm:prSet/>
      <dgm:spPr/>
      <dgm:t>
        <a:bodyPr/>
        <a:lstStyle/>
        <a:p>
          <a:endParaRPr lang="en-US"/>
        </a:p>
      </dgm:t>
    </dgm:pt>
    <dgm:pt modelId="{0D675EAA-F414-4335-8D4E-5867CD873F8B}" type="sibTrans" cxnId="{A62D858B-BB02-4482-8292-57001CF4F473}">
      <dgm:prSet/>
      <dgm:spPr/>
      <dgm:t>
        <a:bodyPr/>
        <a:lstStyle/>
        <a:p>
          <a:endParaRPr lang="en-US"/>
        </a:p>
      </dgm:t>
    </dgm:pt>
    <dgm:pt modelId="{91E80885-ACEA-4B62-99C5-75E1F8CD38DE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Applied IQR method to cap extreme outliers for balanced analysis</a:t>
          </a:r>
        </a:p>
      </dgm:t>
    </dgm:pt>
    <dgm:pt modelId="{C92DEC05-19B6-4B9F-82DD-EAB9928CEECC}" type="parTrans" cxnId="{C4C5E4DD-3F99-49C6-957B-E8FDD4DBBAE8}">
      <dgm:prSet/>
      <dgm:spPr/>
      <dgm:t>
        <a:bodyPr/>
        <a:lstStyle/>
        <a:p>
          <a:endParaRPr lang="en-US"/>
        </a:p>
      </dgm:t>
    </dgm:pt>
    <dgm:pt modelId="{C58E1D5D-71B0-4F7C-AC72-B084BD71572C}" type="sibTrans" cxnId="{C4C5E4DD-3F99-49C6-957B-E8FDD4DBBAE8}">
      <dgm:prSet/>
      <dgm:spPr/>
      <dgm:t>
        <a:bodyPr/>
        <a:lstStyle/>
        <a:p>
          <a:endParaRPr lang="en-US"/>
        </a:p>
      </dgm:t>
    </dgm:pt>
    <dgm:pt modelId="{59722A3A-8686-4BE0-8A67-CC7E03A56248}" type="pres">
      <dgm:prSet presAssocID="{F9A20B49-4979-48CE-A8FB-FB15421AEA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55D85B-896A-4A95-8246-2EB6E789BBF9}" type="pres">
      <dgm:prSet presAssocID="{ACEBE17F-FAA0-4DA6-BF75-83D5AD3A74CC}" presName="hierRoot1" presStyleCnt="0"/>
      <dgm:spPr/>
    </dgm:pt>
    <dgm:pt modelId="{AB55B4FF-38C0-4F3C-ACEE-EB9984D755DC}" type="pres">
      <dgm:prSet presAssocID="{ACEBE17F-FAA0-4DA6-BF75-83D5AD3A74CC}" presName="composite" presStyleCnt="0"/>
      <dgm:spPr/>
    </dgm:pt>
    <dgm:pt modelId="{7396DFE6-E15C-4D75-87B1-EA2B38819508}" type="pres">
      <dgm:prSet presAssocID="{ACEBE17F-FAA0-4DA6-BF75-83D5AD3A74CC}" presName="background" presStyleLbl="node0" presStyleIdx="0" presStyleCnt="2"/>
      <dgm:spPr/>
    </dgm:pt>
    <dgm:pt modelId="{DB577297-B724-482E-9985-AF9FAD12EEE8}" type="pres">
      <dgm:prSet presAssocID="{ACEBE17F-FAA0-4DA6-BF75-83D5AD3A74CC}" presName="text" presStyleLbl="fgAcc0" presStyleIdx="0" presStyleCnt="2">
        <dgm:presLayoutVars>
          <dgm:chPref val="3"/>
        </dgm:presLayoutVars>
      </dgm:prSet>
      <dgm:spPr/>
    </dgm:pt>
    <dgm:pt modelId="{C4AAB8BB-5F2A-46BB-8988-D56216B5076B}" type="pres">
      <dgm:prSet presAssocID="{ACEBE17F-FAA0-4DA6-BF75-83D5AD3A74CC}" presName="hierChild2" presStyleCnt="0"/>
      <dgm:spPr/>
    </dgm:pt>
    <dgm:pt modelId="{BB2FC14E-5081-48D0-B352-753A7828A307}" type="pres">
      <dgm:prSet presAssocID="{91E80885-ACEA-4B62-99C5-75E1F8CD38DE}" presName="hierRoot1" presStyleCnt="0"/>
      <dgm:spPr/>
    </dgm:pt>
    <dgm:pt modelId="{6D1C9A48-1878-4B52-B25A-EACFA7748053}" type="pres">
      <dgm:prSet presAssocID="{91E80885-ACEA-4B62-99C5-75E1F8CD38DE}" presName="composite" presStyleCnt="0"/>
      <dgm:spPr/>
    </dgm:pt>
    <dgm:pt modelId="{9891285D-2A1F-4EC8-B901-902E7ABEE79C}" type="pres">
      <dgm:prSet presAssocID="{91E80885-ACEA-4B62-99C5-75E1F8CD38DE}" presName="background" presStyleLbl="node0" presStyleIdx="1" presStyleCnt="2"/>
      <dgm:spPr/>
    </dgm:pt>
    <dgm:pt modelId="{7FFFC9FB-9D3C-41BA-88EA-DD16492325B6}" type="pres">
      <dgm:prSet presAssocID="{91E80885-ACEA-4B62-99C5-75E1F8CD38DE}" presName="text" presStyleLbl="fgAcc0" presStyleIdx="1" presStyleCnt="2">
        <dgm:presLayoutVars>
          <dgm:chPref val="3"/>
        </dgm:presLayoutVars>
      </dgm:prSet>
      <dgm:spPr/>
    </dgm:pt>
    <dgm:pt modelId="{AD75A0DD-FC19-42A7-A41D-2FF5697EF394}" type="pres">
      <dgm:prSet presAssocID="{91E80885-ACEA-4B62-99C5-75E1F8CD38DE}" presName="hierChild2" presStyleCnt="0"/>
      <dgm:spPr/>
    </dgm:pt>
  </dgm:ptLst>
  <dgm:cxnLst>
    <dgm:cxn modelId="{E1F1FF48-38DC-4F78-A54D-A6ECF19F2C95}" type="presOf" srcId="{ACEBE17F-FAA0-4DA6-BF75-83D5AD3A74CC}" destId="{DB577297-B724-482E-9985-AF9FAD12EEE8}" srcOrd="0" destOrd="0" presId="urn:microsoft.com/office/officeart/2005/8/layout/hierarchy1"/>
    <dgm:cxn modelId="{A62D858B-BB02-4482-8292-57001CF4F473}" srcId="{F9A20B49-4979-48CE-A8FB-FB15421AEABD}" destId="{ACEBE17F-FAA0-4DA6-BF75-83D5AD3A74CC}" srcOrd="0" destOrd="0" parTransId="{6E8F47E9-AACD-47CC-9F7A-8B334F18370C}" sibTransId="{0D675EAA-F414-4335-8D4E-5867CD873F8B}"/>
    <dgm:cxn modelId="{4B48B0B9-D544-435D-A2D2-C5B30E2CF887}" type="presOf" srcId="{91E80885-ACEA-4B62-99C5-75E1F8CD38DE}" destId="{7FFFC9FB-9D3C-41BA-88EA-DD16492325B6}" srcOrd="0" destOrd="0" presId="urn:microsoft.com/office/officeart/2005/8/layout/hierarchy1"/>
    <dgm:cxn modelId="{C4C5E4DD-3F99-49C6-957B-E8FDD4DBBAE8}" srcId="{F9A20B49-4979-48CE-A8FB-FB15421AEABD}" destId="{91E80885-ACEA-4B62-99C5-75E1F8CD38DE}" srcOrd="1" destOrd="0" parTransId="{C92DEC05-19B6-4B9F-82DD-EAB9928CEECC}" sibTransId="{C58E1D5D-71B0-4F7C-AC72-B084BD71572C}"/>
    <dgm:cxn modelId="{D0DC55FB-55ED-4AC6-AAE9-2E917F9A1A00}" type="presOf" srcId="{F9A20B49-4979-48CE-A8FB-FB15421AEABD}" destId="{59722A3A-8686-4BE0-8A67-CC7E03A56248}" srcOrd="0" destOrd="0" presId="urn:microsoft.com/office/officeart/2005/8/layout/hierarchy1"/>
    <dgm:cxn modelId="{36091AA2-A370-4D0A-9712-856F6C520087}" type="presParOf" srcId="{59722A3A-8686-4BE0-8A67-CC7E03A56248}" destId="{6F55D85B-896A-4A95-8246-2EB6E789BBF9}" srcOrd="0" destOrd="0" presId="urn:microsoft.com/office/officeart/2005/8/layout/hierarchy1"/>
    <dgm:cxn modelId="{5CB1124A-9295-4B79-8BDA-BC01E74236AA}" type="presParOf" srcId="{6F55D85B-896A-4A95-8246-2EB6E789BBF9}" destId="{AB55B4FF-38C0-4F3C-ACEE-EB9984D755DC}" srcOrd="0" destOrd="0" presId="urn:microsoft.com/office/officeart/2005/8/layout/hierarchy1"/>
    <dgm:cxn modelId="{2CF609AD-F1CF-4563-AD99-B96E790A7D7A}" type="presParOf" srcId="{AB55B4FF-38C0-4F3C-ACEE-EB9984D755DC}" destId="{7396DFE6-E15C-4D75-87B1-EA2B38819508}" srcOrd="0" destOrd="0" presId="urn:microsoft.com/office/officeart/2005/8/layout/hierarchy1"/>
    <dgm:cxn modelId="{8AF56DD5-D432-4722-9279-BE51F61A5C03}" type="presParOf" srcId="{AB55B4FF-38C0-4F3C-ACEE-EB9984D755DC}" destId="{DB577297-B724-482E-9985-AF9FAD12EEE8}" srcOrd="1" destOrd="0" presId="urn:microsoft.com/office/officeart/2005/8/layout/hierarchy1"/>
    <dgm:cxn modelId="{82DD52F3-2750-46D1-8334-B00EF77B5179}" type="presParOf" srcId="{6F55D85B-896A-4A95-8246-2EB6E789BBF9}" destId="{C4AAB8BB-5F2A-46BB-8988-D56216B5076B}" srcOrd="1" destOrd="0" presId="urn:microsoft.com/office/officeart/2005/8/layout/hierarchy1"/>
    <dgm:cxn modelId="{4DD6B316-A4A1-48C3-8BA6-416FB7217D2B}" type="presParOf" srcId="{59722A3A-8686-4BE0-8A67-CC7E03A56248}" destId="{BB2FC14E-5081-48D0-B352-753A7828A307}" srcOrd="1" destOrd="0" presId="urn:microsoft.com/office/officeart/2005/8/layout/hierarchy1"/>
    <dgm:cxn modelId="{4690A4C4-A24A-4961-A2CD-2DD227EAC483}" type="presParOf" srcId="{BB2FC14E-5081-48D0-B352-753A7828A307}" destId="{6D1C9A48-1878-4B52-B25A-EACFA7748053}" srcOrd="0" destOrd="0" presId="urn:microsoft.com/office/officeart/2005/8/layout/hierarchy1"/>
    <dgm:cxn modelId="{3BB984D3-D809-4219-AC77-02CA17E4497C}" type="presParOf" srcId="{6D1C9A48-1878-4B52-B25A-EACFA7748053}" destId="{9891285D-2A1F-4EC8-B901-902E7ABEE79C}" srcOrd="0" destOrd="0" presId="urn:microsoft.com/office/officeart/2005/8/layout/hierarchy1"/>
    <dgm:cxn modelId="{67732561-63BB-4EAB-9456-AC8B21771A48}" type="presParOf" srcId="{6D1C9A48-1878-4B52-B25A-EACFA7748053}" destId="{7FFFC9FB-9D3C-41BA-88EA-DD16492325B6}" srcOrd="1" destOrd="0" presId="urn:microsoft.com/office/officeart/2005/8/layout/hierarchy1"/>
    <dgm:cxn modelId="{3464FCCA-1A1E-4ADB-AFA5-13269220E326}" type="presParOf" srcId="{BB2FC14E-5081-48D0-B352-753A7828A307}" destId="{AD75A0DD-FC19-42A7-A41D-2FF5697EF3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ECE10B-81E1-4EC2-A765-F8085097436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ACB9EB-FB93-44E2-84A3-5D28B96D6B22}">
      <dgm:prSet custT="1"/>
      <dgm:spPr/>
      <dgm:t>
        <a:bodyPr/>
        <a:lstStyle/>
        <a:p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supply chain has areas with strong performance and some bottlenecks.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FBF64D9-9244-4F98-8A52-B93DBC7EF88A}" type="parTrans" cxnId="{73F0877B-FB08-4575-B05B-C599D62BB0F6}">
      <dgm:prSet/>
      <dgm:spPr/>
      <dgm:t>
        <a:bodyPr/>
        <a:lstStyle/>
        <a:p>
          <a:endParaRPr lang="en-US"/>
        </a:p>
      </dgm:t>
    </dgm:pt>
    <dgm:pt modelId="{2DC7C415-4497-4719-8072-88E8FCCF4244}" type="sibTrans" cxnId="{73F0877B-FB08-4575-B05B-C599D62BB0F6}">
      <dgm:prSet/>
      <dgm:spPr/>
      <dgm:t>
        <a:bodyPr/>
        <a:lstStyle/>
        <a:p>
          <a:endParaRPr lang="en-US"/>
        </a:p>
      </dgm:t>
    </dgm:pt>
    <dgm:pt modelId="{55099974-00D1-472F-8127-FBB0451B9497}">
      <dgm:prSet custT="1"/>
      <dgm:spPr/>
      <dgm:t>
        <a:bodyPr/>
        <a:lstStyle/>
        <a:p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Delivery delays can be reduced by improving warehouse and shipping operations.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C2EBC87-3974-4210-8DD4-CEDB99312208}" type="parTrans" cxnId="{32EE0399-AEF9-4389-B32B-98C3865F8CCC}">
      <dgm:prSet/>
      <dgm:spPr/>
      <dgm:t>
        <a:bodyPr/>
        <a:lstStyle/>
        <a:p>
          <a:endParaRPr lang="en-US"/>
        </a:p>
      </dgm:t>
    </dgm:pt>
    <dgm:pt modelId="{9F7F5C82-416D-4931-8F91-D63280691E88}" type="sibTrans" cxnId="{32EE0399-AEF9-4389-B32B-98C3865F8CCC}">
      <dgm:prSet/>
      <dgm:spPr/>
      <dgm:t>
        <a:bodyPr/>
        <a:lstStyle/>
        <a:p>
          <a:endParaRPr lang="en-US"/>
        </a:p>
      </dgm:t>
    </dgm:pt>
    <dgm:pt modelId="{F2DE1D92-F0C5-47F6-B149-B6915E765D49}">
      <dgm:prSet custT="1"/>
      <dgm:spPr/>
      <dgm:t>
        <a:bodyPr/>
        <a:lstStyle/>
        <a:p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Profitability varies widely across products and sales channels.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DAF6224-0B19-4E38-8EF6-3C87B41CAC98}" type="parTrans" cxnId="{6CA10802-0A43-4A24-87F7-23768A3CAC6D}">
      <dgm:prSet/>
      <dgm:spPr/>
      <dgm:t>
        <a:bodyPr/>
        <a:lstStyle/>
        <a:p>
          <a:endParaRPr lang="en-US"/>
        </a:p>
      </dgm:t>
    </dgm:pt>
    <dgm:pt modelId="{3FA60141-29DA-4210-AA5E-9AD33032C55E}" type="sibTrans" cxnId="{6CA10802-0A43-4A24-87F7-23768A3CAC6D}">
      <dgm:prSet/>
      <dgm:spPr/>
      <dgm:t>
        <a:bodyPr/>
        <a:lstStyle/>
        <a:p>
          <a:endParaRPr lang="en-US"/>
        </a:p>
      </dgm:t>
    </dgm:pt>
    <dgm:pt modelId="{F161DF37-2426-4118-AAC4-6FDCA376B085}">
      <dgm:prSet custT="1"/>
      <dgm:spPr/>
      <dgm:t>
        <a:bodyPr/>
        <a:lstStyle/>
        <a:p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EDA helped identify patterns that can support better forecasting, planning, and decision-making.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E77C339-7760-4245-83DF-7A6E2F3B470F}" type="parTrans" cxnId="{5E2EB6A0-2F37-4333-ABE0-9E11CE91FAFD}">
      <dgm:prSet/>
      <dgm:spPr/>
      <dgm:t>
        <a:bodyPr/>
        <a:lstStyle/>
        <a:p>
          <a:endParaRPr lang="en-US"/>
        </a:p>
      </dgm:t>
    </dgm:pt>
    <dgm:pt modelId="{AFD32992-CA00-498D-96E5-42994599262D}" type="sibTrans" cxnId="{5E2EB6A0-2F37-4333-ABE0-9E11CE91FAFD}">
      <dgm:prSet/>
      <dgm:spPr/>
      <dgm:t>
        <a:bodyPr/>
        <a:lstStyle/>
        <a:p>
          <a:endParaRPr lang="en-US"/>
        </a:p>
      </dgm:t>
    </dgm:pt>
    <dgm:pt modelId="{3BF318C0-4E36-4E8A-8A18-250D4A288FF0}">
      <dgm:prSet/>
      <dgm:spPr/>
      <dgm:t>
        <a:bodyPr/>
        <a:lstStyle/>
        <a:p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Overall, the analysis provides a clear understanding of supply chain performance.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1628C92-1B19-4B1E-BA52-467683408BF0}" type="parTrans" cxnId="{D7EE3874-C811-45BB-9827-1EB3FD083C87}">
      <dgm:prSet/>
      <dgm:spPr/>
      <dgm:t>
        <a:bodyPr/>
        <a:lstStyle/>
        <a:p>
          <a:endParaRPr lang="en-US"/>
        </a:p>
      </dgm:t>
    </dgm:pt>
    <dgm:pt modelId="{1B4CCCF4-5B65-47DB-8190-874CB75021DC}" type="sibTrans" cxnId="{D7EE3874-C811-45BB-9827-1EB3FD083C87}">
      <dgm:prSet/>
      <dgm:spPr/>
      <dgm:t>
        <a:bodyPr/>
        <a:lstStyle/>
        <a:p>
          <a:endParaRPr lang="en-US"/>
        </a:p>
      </dgm:t>
    </dgm:pt>
    <dgm:pt modelId="{7B6EAAA1-656F-461F-B643-44DFFA6E3B12}" type="pres">
      <dgm:prSet presAssocID="{B3ECE10B-81E1-4EC2-A765-F80850974362}" presName="root" presStyleCnt="0">
        <dgm:presLayoutVars>
          <dgm:dir/>
          <dgm:resizeHandles val="exact"/>
        </dgm:presLayoutVars>
      </dgm:prSet>
      <dgm:spPr/>
    </dgm:pt>
    <dgm:pt modelId="{5840E892-3BAD-4AB0-A42D-542FD470C085}" type="pres">
      <dgm:prSet presAssocID="{11ACB9EB-FB93-44E2-84A3-5D28B96D6B22}" presName="compNode" presStyleCnt="0"/>
      <dgm:spPr/>
    </dgm:pt>
    <dgm:pt modelId="{80F61E53-0502-4DF8-8E13-86BE4FA2677E}" type="pres">
      <dgm:prSet presAssocID="{11ACB9EB-FB93-44E2-84A3-5D28B96D6B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653B282-DD1D-469A-A440-487F5885D4AE}" type="pres">
      <dgm:prSet presAssocID="{11ACB9EB-FB93-44E2-84A3-5D28B96D6B22}" presName="spaceRect" presStyleCnt="0"/>
      <dgm:spPr/>
    </dgm:pt>
    <dgm:pt modelId="{DB7AADE3-8C5E-4607-944D-322883C1449F}" type="pres">
      <dgm:prSet presAssocID="{11ACB9EB-FB93-44E2-84A3-5D28B96D6B22}" presName="textRect" presStyleLbl="revTx" presStyleIdx="0" presStyleCnt="5">
        <dgm:presLayoutVars>
          <dgm:chMax val="1"/>
          <dgm:chPref val="1"/>
        </dgm:presLayoutVars>
      </dgm:prSet>
      <dgm:spPr/>
    </dgm:pt>
    <dgm:pt modelId="{CE441CBB-1776-4169-970E-AEEA6E0716F5}" type="pres">
      <dgm:prSet presAssocID="{2DC7C415-4497-4719-8072-88E8FCCF4244}" presName="sibTrans" presStyleCnt="0"/>
      <dgm:spPr/>
    </dgm:pt>
    <dgm:pt modelId="{1E9E7B55-E2C3-46D1-AD6F-F4D13E1A6348}" type="pres">
      <dgm:prSet presAssocID="{55099974-00D1-472F-8127-FBB0451B9497}" presName="compNode" presStyleCnt="0"/>
      <dgm:spPr/>
    </dgm:pt>
    <dgm:pt modelId="{B851FEA8-E2DD-4D07-890E-3FF8EFAB4F3C}" type="pres">
      <dgm:prSet presAssocID="{55099974-00D1-472F-8127-FBB0451B949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10ED063E-23F1-43BB-9229-9B6FF98EB45D}" type="pres">
      <dgm:prSet presAssocID="{55099974-00D1-472F-8127-FBB0451B9497}" presName="spaceRect" presStyleCnt="0"/>
      <dgm:spPr/>
    </dgm:pt>
    <dgm:pt modelId="{92698199-2F43-4782-8634-12209B38EAB3}" type="pres">
      <dgm:prSet presAssocID="{55099974-00D1-472F-8127-FBB0451B9497}" presName="textRect" presStyleLbl="revTx" presStyleIdx="1" presStyleCnt="5">
        <dgm:presLayoutVars>
          <dgm:chMax val="1"/>
          <dgm:chPref val="1"/>
        </dgm:presLayoutVars>
      </dgm:prSet>
      <dgm:spPr/>
    </dgm:pt>
    <dgm:pt modelId="{310C4C1E-B886-43BC-8728-150AB58DC25B}" type="pres">
      <dgm:prSet presAssocID="{9F7F5C82-416D-4931-8F91-D63280691E88}" presName="sibTrans" presStyleCnt="0"/>
      <dgm:spPr/>
    </dgm:pt>
    <dgm:pt modelId="{2EE80C65-1754-4757-8126-2234B24AEAC8}" type="pres">
      <dgm:prSet presAssocID="{F2DE1D92-F0C5-47F6-B149-B6915E765D49}" presName="compNode" presStyleCnt="0"/>
      <dgm:spPr/>
    </dgm:pt>
    <dgm:pt modelId="{66C8A4D4-2A5C-41B0-BC1C-80EB46A3E0BC}" type="pres">
      <dgm:prSet presAssocID="{F2DE1D92-F0C5-47F6-B149-B6915E765D4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5C32EED-5290-4454-9E05-0D57A4D571AA}" type="pres">
      <dgm:prSet presAssocID="{F2DE1D92-F0C5-47F6-B149-B6915E765D49}" presName="spaceRect" presStyleCnt="0"/>
      <dgm:spPr/>
    </dgm:pt>
    <dgm:pt modelId="{94ADD30D-2577-4DB2-B468-0A1966DD9E39}" type="pres">
      <dgm:prSet presAssocID="{F2DE1D92-F0C5-47F6-B149-B6915E765D49}" presName="textRect" presStyleLbl="revTx" presStyleIdx="2" presStyleCnt="5">
        <dgm:presLayoutVars>
          <dgm:chMax val="1"/>
          <dgm:chPref val="1"/>
        </dgm:presLayoutVars>
      </dgm:prSet>
      <dgm:spPr/>
    </dgm:pt>
    <dgm:pt modelId="{12FECA14-165D-4D1C-951F-F9D995EB5245}" type="pres">
      <dgm:prSet presAssocID="{3FA60141-29DA-4210-AA5E-9AD33032C55E}" presName="sibTrans" presStyleCnt="0"/>
      <dgm:spPr/>
    </dgm:pt>
    <dgm:pt modelId="{5FF1D019-C2CD-40CD-BD9C-DA7B4F9B0F06}" type="pres">
      <dgm:prSet presAssocID="{F161DF37-2426-4118-AAC4-6FDCA376B085}" presName="compNode" presStyleCnt="0"/>
      <dgm:spPr/>
    </dgm:pt>
    <dgm:pt modelId="{BCD1BF95-AF8B-428F-A880-FD6AE36EA1A1}" type="pres">
      <dgm:prSet presAssocID="{F161DF37-2426-4118-AAC4-6FDCA376B08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07D872A-732C-4A28-85A2-ACDE9F88BFC7}" type="pres">
      <dgm:prSet presAssocID="{F161DF37-2426-4118-AAC4-6FDCA376B085}" presName="spaceRect" presStyleCnt="0"/>
      <dgm:spPr/>
    </dgm:pt>
    <dgm:pt modelId="{06078D4F-A41A-4088-918A-3DC73936571A}" type="pres">
      <dgm:prSet presAssocID="{F161DF37-2426-4118-AAC4-6FDCA376B085}" presName="textRect" presStyleLbl="revTx" presStyleIdx="3" presStyleCnt="5">
        <dgm:presLayoutVars>
          <dgm:chMax val="1"/>
          <dgm:chPref val="1"/>
        </dgm:presLayoutVars>
      </dgm:prSet>
      <dgm:spPr/>
    </dgm:pt>
    <dgm:pt modelId="{3BAB462F-29AD-4455-BE69-60B9D7F6F3CF}" type="pres">
      <dgm:prSet presAssocID="{AFD32992-CA00-498D-96E5-42994599262D}" presName="sibTrans" presStyleCnt="0"/>
      <dgm:spPr/>
    </dgm:pt>
    <dgm:pt modelId="{B001749B-B2EF-438C-BE75-4D5B98AB1E6D}" type="pres">
      <dgm:prSet presAssocID="{3BF318C0-4E36-4E8A-8A18-250D4A288FF0}" presName="compNode" presStyleCnt="0"/>
      <dgm:spPr/>
    </dgm:pt>
    <dgm:pt modelId="{F1600328-2DA1-4EB3-83AD-A74EA897E0CE}" type="pres">
      <dgm:prSet presAssocID="{3BF318C0-4E36-4E8A-8A18-250D4A288FF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6FF269B-43E5-47DD-8B72-14B548A5ED60}" type="pres">
      <dgm:prSet presAssocID="{3BF318C0-4E36-4E8A-8A18-250D4A288FF0}" presName="spaceRect" presStyleCnt="0"/>
      <dgm:spPr/>
    </dgm:pt>
    <dgm:pt modelId="{8AFAB25E-00DB-42E4-A59F-C77B362E8FCE}" type="pres">
      <dgm:prSet presAssocID="{3BF318C0-4E36-4E8A-8A18-250D4A288FF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CA10802-0A43-4A24-87F7-23768A3CAC6D}" srcId="{B3ECE10B-81E1-4EC2-A765-F80850974362}" destId="{F2DE1D92-F0C5-47F6-B149-B6915E765D49}" srcOrd="2" destOrd="0" parTransId="{1DAF6224-0B19-4E38-8EF6-3C87B41CAC98}" sibTransId="{3FA60141-29DA-4210-AA5E-9AD33032C55E}"/>
    <dgm:cxn modelId="{9778470D-8B09-4305-8E55-06BF7DE9B766}" type="presOf" srcId="{11ACB9EB-FB93-44E2-84A3-5D28B96D6B22}" destId="{DB7AADE3-8C5E-4607-944D-322883C1449F}" srcOrd="0" destOrd="0" presId="urn:microsoft.com/office/officeart/2018/2/layout/IconLabelList"/>
    <dgm:cxn modelId="{E333AA0D-0ED6-4F8B-9725-BD950CF02BCC}" type="presOf" srcId="{3BF318C0-4E36-4E8A-8A18-250D4A288FF0}" destId="{8AFAB25E-00DB-42E4-A59F-C77B362E8FCE}" srcOrd="0" destOrd="0" presId="urn:microsoft.com/office/officeart/2018/2/layout/IconLabelList"/>
    <dgm:cxn modelId="{93A19435-337E-45DA-85D2-4B3270B22B84}" type="presOf" srcId="{F161DF37-2426-4118-AAC4-6FDCA376B085}" destId="{06078D4F-A41A-4088-918A-3DC73936571A}" srcOrd="0" destOrd="0" presId="urn:microsoft.com/office/officeart/2018/2/layout/IconLabelList"/>
    <dgm:cxn modelId="{D7EE3874-C811-45BB-9827-1EB3FD083C87}" srcId="{B3ECE10B-81E1-4EC2-A765-F80850974362}" destId="{3BF318C0-4E36-4E8A-8A18-250D4A288FF0}" srcOrd="4" destOrd="0" parTransId="{D1628C92-1B19-4B1E-BA52-467683408BF0}" sibTransId="{1B4CCCF4-5B65-47DB-8190-874CB75021DC}"/>
    <dgm:cxn modelId="{73F0877B-FB08-4575-B05B-C599D62BB0F6}" srcId="{B3ECE10B-81E1-4EC2-A765-F80850974362}" destId="{11ACB9EB-FB93-44E2-84A3-5D28B96D6B22}" srcOrd="0" destOrd="0" parTransId="{DFBF64D9-9244-4F98-8A52-B93DBC7EF88A}" sibTransId="{2DC7C415-4497-4719-8072-88E8FCCF4244}"/>
    <dgm:cxn modelId="{F42A8F92-8097-4E41-B1E4-7CFF19A16B29}" type="presOf" srcId="{B3ECE10B-81E1-4EC2-A765-F80850974362}" destId="{7B6EAAA1-656F-461F-B643-44DFFA6E3B12}" srcOrd="0" destOrd="0" presId="urn:microsoft.com/office/officeart/2018/2/layout/IconLabelList"/>
    <dgm:cxn modelId="{32EE0399-AEF9-4389-B32B-98C3865F8CCC}" srcId="{B3ECE10B-81E1-4EC2-A765-F80850974362}" destId="{55099974-00D1-472F-8127-FBB0451B9497}" srcOrd="1" destOrd="0" parTransId="{DC2EBC87-3974-4210-8DD4-CEDB99312208}" sibTransId="{9F7F5C82-416D-4931-8F91-D63280691E88}"/>
    <dgm:cxn modelId="{5E2EB6A0-2F37-4333-ABE0-9E11CE91FAFD}" srcId="{B3ECE10B-81E1-4EC2-A765-F80850974362}" destId="{F161DF37-2426-4118-AAC4-6FDCA376B085}" srcOrd="3" destOrd="0" parTransId="{CE77C339-7760-4245-83DF-7A6E2F3B470F}" sibTransId="{AFD32992-CA00-498D-96E5-42994599262D}"/>
    <dgm:cxn modelId="{560BFCBF-C39A-4A72-AFE8-DC38EC767DAA}" type="presOf" srcId="{55099974-00D1-472F-8127-FBB0451B9497}" destId="{92698199-2F43-4782-8634-12209B38EAB3}" srcOrd="0" destOrd="0" presId="urn:microsoft.com/office/officeart/2018/2/layout/IconLabelList"/>
    <dgm:cxn modelId="{C86B65EA-FEA8-42E1-923E-6ABF9CEE254F}" type="presOf" srcId="{F2DE1D92-F0C5-47F6-B149-B6915E765D49}" destId="{94ADD30D-2577-4DB2-B468-0A1966DD9E39}" srcOrd="0" destOrd="0" presId="urn:microsoft.com/office/officeart/2018/2/layout/IconLabelList"/>
    <dgm:cxn modelId="{B714DEBA-6421-4F1A-A8B4-25680D95E6EF}" type="presParOf" srcId="{7B6EAAA1-656F-461F-B643-44DFFA6E3B12}" destId="{5840E892-3BAD-4AB0-A42D-542FD470C085}" srcOrd="0" destOrd="0" presId="urn:microsoft.com/office/officeart/2018/2/layout/IconLabelList"/>
    <dgm:cxn modelId="{22A40EF9-0B8B-4A76-8768-2EBD56B2FE62}" type="presParOf" srcId="{5840E892-3BAD-4AB0-A42D-542FD470C085}" destId="{80F61E53-0502-4DF8-8E13-86BE4FA2677E}" srcOrd="0" destOrd="0" presId="urn:microsoft.com/office/officeart/2018/2/layout/IconLabelList"/>
    <dgm:cxn modelId="{CBFB9845-7DF2-4F91-B806-405077639B3F}" type="presParOf" srcId="{5840E892-3BAD-4AB0-A42D-542FD470C085}" destId="{4653B282-DD1D-469A-A440-487F5885D4AE}" srcOrd="1" destOrd="0" presId="urn:microsoft.com/office/officeart/2018/2/layout/IconLabelList"/>
    <dgm:cxn modelId="{EF913C69-9680-47E4-8CCC-E3EBA3C35CEC}" type="presParOf" srcId="{5840E892-3BAD-4AB0-A42D-542FD470C085}" destId="{DB7AADE3-8C5E-4607-944D-322883C1449F}" srcOrd="2" destOrd="0" presId="urn:microsoft.com/office/officeart/2018/2/layout/IconLabelList"/>
    <dgm:cxn modelId="{DB53AFD3-9DD2-49B7-AE0A-E9223369B1EE}" type="presParOf" srcId="{7B6EAAA1-656F-461F-B643-44DFFA6E3B12}" destId="{CE441CBB-1776-4169-970E-AEEA6E0716F5}" srcOrd="1" destOrd="0" presId="urn:microsoft.com/office/officeart/2018/2/layout/IconLabelList"/>
    <dgm:cxn modelId="{3E78D9A0-70D5-4817-93A3-317E7A69D54F}" type="presParOf" srcId="{7B6EAAA1-656F-461F-B643-44DFFA6E3B12}" destId="{1E9E7B55-E2C3-46D1-AD6F-F4D13E1A6348}" srcOrd="2" destOrd="0" presId="urn:microsoft.com/office/officeart/2018/2/layout/IconLabelList"/>
    <dgm:cxn modelId="{E285F757-166E-475E-851B-B434425ED08C}" type="presParOf" srcId="{1E9E7B55-E2C3-46D1-AD6F-F4D13E1A6348}" destId="{B851FEA8-E2DD-4D07-890E-3FF8EFAB4F3C}" srcOrd="0" destOrd="0" presId="urn:microsoft.com/office/officeart/2018/2/layout/IconLabelList"/>
    <dgm:cxn modelId="{09BCC705-B570-4801-B94E-981B6DFEABD6}" type="presParOf" srcId="{1E9E7B55-E2C3-46D1-AD6F-F4D13E1A6348}" destId="{10ED063E-23F1-43BB-9229-9B6FF98EB45D}" srcOrd="1" destOrd="0" presId="urn:microsoft.com/office/officeart/2018/2/layout/IconLabelList"/>
    <dgm:cxn modelId="{DA19A0E9-3863-4E7A-A1D6-FC9948F11505}" type="presParOf" srcId="{1E9E7B55-E2C3-46D1-AD6F-F4D13E1A6348}" destId="{92698199-2F43-4782-8634-12209B38EAB3}" srcOrd="2" destOrd="0" presId="urn:microsoft.com/office/officeart/2018/2/layout/IconLabelList"/>
    <dgm:cxn modelId="{AC583252-E303-4F22-AC39-A5D387E47177}" type="presParOf" srcId="{7B6EAAA1-656F-461F-B643-44DFFA6E3B12}" destId="{310C4C1E-B886-43BC-8728-150AB58DC25B}" srcOrd="3" destOrd="0" presId="urn:microsoft.com/office/officeart/2018/2/layout/IconLabelList"/>
    <dgm:cxn modelId="{B5704188-7D4F-4C01-85E2-5D13B442FFB9}" type="presParOf" srcId="{7B6EAAA1-656F-461F-B643-44DFFA6E3B12}" destId="{2EE80C65-1754-4757-8126-2234B24AEAC8}" srcOrd="4" destOrd="0" presId="urn:microsoft.com/office/officeart/2018/2/layout/IconLabelList"/>
    <dgm:cxn modelId="{063F8AB3-9FDF-4C10-BEBF-49885F261FBA}" type="presParOf" srcId="{2EE80C65-1754-4757-8126-2234B24AEAC8}" destId="{66C8A4D4-2A5C-41B0-BC1C-80EB46A3E0BC}" srcOrd="0" destOrd="0" presId="urn:microsoft.com/office/officeart/2018/2/layout/IconLabelList"/>
    <dgm:cxn modelId="{B8EFFED1-E134-4D28-BB2A-E752B8B07D53}" type="presParOf" srcId="{2EE80C65-1754-4757-8126-2234B24AEAC8}" destId="{65C32EED-5290-4454-9E05-0D57A4D571AA}" srcOrd="1" destOrd="0" presId="urn:microsoft.com/office/officeart/2018/2/layout/IconLabelList"/>
    <dgm:cxn modelId="{2B91495F-4FA0-4BF5-A12E-8DA0132AFC74}" type="presParOf" srcId="{2EE80C65-1754-4757-8126-2234B24AEAC8}" destId="{94ADD30D-2577-4DB2-B468-0A1966DD9E39}" srcOrd="2" destOrd="0" presId="urn:microsoft.com/office/officeart/2018/2/layout/IconLabelList"/>
    <dgm:cxn modelId="{C5F5EB6C-D610-4E92-A1E5-5CC783DD3476}" type="presParOf" srcId="{7B6EAAA1-656F-461F-B643-44DFFA6E3B12}" destId="{12FECA14-165D-4D1C-951F-F9D995EB5245}" srcOrd="5" destOrd="0" presId="urn:microsoft.com/office/officeart/2018/2/layout/IconLabelList"/>
    <dgm:cxn modelId="{06146E2E-6F5F-4FF7-A9D1-9EDBC4A77162}" type="presParOf" srcId="{7B6EAAA1-656F-461F-B643-44DFFA6E3B12}" destId="{5FF1D019-C2CD-40CD-BD9C-DA7B4F9B0F06}" srcOrd="6" destOrd="0" presId="urn:microsoft.com/office/officeart/2018/2/layout/IconLabelList"/>
    <dgm:cxn modelId="{88F0A87C-54A1-4541-9C98-375ECED1D139}" type="presParOf" srcId="{5FF1D019-C2CD-40CD-BD9C-DA7B4F9B0F06}" destId="{BCD1BF95-AF8B-428F-A880-FD6AE36EA1A1}" srcOrd="0" destOrd="0" presId="urn:microsoft.com/office/officeart/2018/2/layout/IconLabelList"/>
    <dgm:cxn modelId="{81812ABA-B801-444F-A472-55C1057A2EC5}" type="presParOf" srcId="{5FF1D019-C2CD-40CD-BD9C-DA7B4F9B0F06}" destId="{C07D872A-732C-4A28-85A2-ACDE9F88BFC7}" srcOrd="1" destOrd="0" presId="urn:microsoft.com/office/officeart/2018/2/layout/IconLabelList"/>
    <dgm:cxn modelId="{CBCAD29E-B2B5-4F53-A24D-B24DBCA33D41}" type="presParOf" srcId="{5FF1D019-C2CD-40CD-BD9C-DA7B4F9B0F06}" destId="{06078D4F-A41A-4088-918A-3DC73936571A}" srcOrd="2" destOrd="0" presId="urn:microsoft.com/office/officeart/2018/2/layout/IconLabelList"/>
    <dgm:cxn modelId="{FC5FC3A0-00A0-4EB6-9F26-55E4D19D8FED}" type="presParOf" srcId="{7B6EAAA1-656F-461F-B643-44DFFA6E3B12}" destId="{3BAB462F-29AD-4455-BE69-60B9D7F6F3CF}" srcOrd="7" destOrd="0" presId="urn:microsoft.com/office/officeart/2018/2/layout/IconLabelList"/>
    <dgm:cxn modelId="{94775B60-3B9F-45AC-ABF7-37A19DD532FB}" type="presParOf" srcId="{7B6EAAA1-656F-461F-B643-44DFFA6E3B12}" destId="{B001749B-B2EF-438C-BE75-4D5B98AB1E6D}" srcOrd="8" destOrd="0" presId="urn:microsoft.com/office/officeart/2018/2/layout/IconLabelList"/>
    <dgm:cxn modelId="{11AD10A5-8619-4DB1-B5F4-407760FFF01D}" type="presParOf" srcId="{B001749B-B2EF-438C-BE75-4D5B98AB1E6D}" destId="{F1600328-2DA1-4EB3-83AD-A74EA897E0CE}" srcOrd="0" destOrd="0" presId="urn:microsoft.com/office/officeart/2018/2/layout/IconLabelList"/>
    <dgm:cxn modelId="{E1570A2C-47CA-4E41-9AF7-6021AD724836}" type="presParOf" srcId="{B001749B-B2EF-438C-BE75-4D5B98AB1E6D}" destId="{36FF269B-43E5-47DD-8B72-14B548A5ED60}" srcOrd="1" destOrd="0" presId="urn:microsoft.com/office/officeart/2018/2/layout/IconLabelList"/>
    <dgm:cxn modelId="{D2FD94B0-038F-4D66-AEF3-78D37AF23734}" type="presParOf" srcId="{B001749B-B2EF-438C-BE75-4D5B98AB1E6D}" destId="{8AFAB25E-00DB-42E4-A59F-C77B362E8F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2CFCF-762C-4C94-96B1-2A9AB42AAC50}">
      <dsp:nvSpPr>
        <dsp:cNvPr id="0" name=""/>
        <dsp:cNvSpPr/>
      </dsp:nvSpPr>
      <dsp:spPr>
        <a:xfrm>
          <a:off x="0" y="1805"/>
          <a:ext cx="10233025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F2281-C67E-419E-9C77-485B34289735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BFB22-987D-48A0-96C1-897D7006DB62}">
      <dsp:nvSpPr>
        <dsp:cNvPr id="0" name=""/>
        <dsp:cNvSpPr/>
      </dsp:nvSpPr>
      <dsp:spPr>
        <a:xfrm>
          <a:off x="1057183" y="1805"/>
          <a:ext cx="91758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 this project, I performed an Exploratory Data Analysis (EDA) on a USA Sales dataset.</a:t>
          </a:r>
        </a:p>
      </dsp:txBody>
      <dsp:txXfrm>
        <a:off x="1057183" y="1805"/>
        <a:ext cx="9175841" cy="915310"/>
      </dsp:txXfrm>
    </dsp:sp>
    <dsp:sp modelId="{115B1A12-4AE0-4EB8-8D2C-6ED96B0B7166}">
      <dsp:nvSpPr>
        <dsp:cNvPr id="0" name=""/>
        <dsp:cNvSpPr/>
      </dsp:nvSpPr>
      <dsp:spPr>
        <a:xfrm>
          <a:off x="0" y="1145944"/>
          <a:ext cx="10233025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9B9D1-8389-44E5-B327-5E16C2A25F83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51DAB-68AF-4803-95F0-3EF70E78DD7A}">
      <dsp:nvSpPr>
        <dsp:cNvPr id="0" name=""/>
        <dsp:cNvSpPr/>
      </dsp:nvSpPr>
      <dsp:spPr>
        <a:xfrm>
          <a:off x="1057183" y="1145944"/>
          <a:ext cx="91758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dataset contains information related to various stages of the supply chain, such as procurement, ordering, shipping, and delivery.</a:t>
          </a:r>
        </a:p>
      </dsp:txBody>
      <dsp:txXfrm>
        <a:off x="1057183" y="1145944"/>
        <a:ext cx="9175841" cy="915310"/>
      </dsp:txXfrm>
    </dsp:sp>
    <dsp:sp modelId="{5B525F3A-5D5D-42BF-940F-603A06D1B7B5}">
      <dsp:nvSpPr>
        <dsp:cNvPr id="0" name=""/>
        <dsp:cNvSpPr/>
      </dsp:nvSpPr>
      <dsp:spPr>
        <a:xfrm>
          <a:off x="0" y="2290082"/>
          <a:ext cx="10233025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BA8D2-6E6D-4906-BE3D-77C1DD12B582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C2CD6-3082-4CD9-B988-A9501E3FAF30}">
      <dsp:nvSpPr>
        <dsp:cNvPr id="0" name=""/>
        <dsp:cNvSpPr/>
      </dsp:nvSpPr>
      <dsp:spPr>
        <a:xfrm>
          <a:off x="1057183" y="2290082"/>
          <a:ext cx="91758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main aim of this project is to understand how products move through the supply chain and identify patterns, delays, and performance metrics.</a:t>
          </a:r>
        </a:p>
      </dsp:txBody>
      <dsp:txXfrm>
        <a:off x="1057183" y="2290082"/>
        <a:ext cx="9175841" cy="915310"/>
      </dsp:txXfrm>
    </dsp:sp>
    <dsp:sp modelId="{9C526685-7FDC-47C1-ABBE-738015755E30}">
      <dsp:nvSpPr>
        <dsp:cNvPr id="0" name=""/>
        <dsp:cNvSpPr/>
      </dsp:nvSpPr>
      <dsp:spPr>
        <a:xfrm>
          <a:off x="0" y="3434221"/>
          <a:ext cx="10233025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CF737-F087-492C-BC1C-EF1A97A13162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B55C4-4A86-4B37-8C3C-8154E70121A3}">
      <dsp:nvSpPr>
        <dsp:cNvPr id="0" name=""/>
        <dsp:cNvSpPr/>
      </dsp:nvSpPr>
      <dsp:spPr>
        <a:xfrm>
          <a:off x="1057183" y="3434221"/>
          <a:ext cx="91758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analysis helps in understanding operational efficiency and business performance.</a:t>
          </a:r>
        </a:p>
      </dsp:txBody>
      <dsp:txXfrm>
        <a:off x="1057183" y="3434221"/>
        <a:ext cx="9175841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727A3-C1B3-4062-B256-5F00C905F80C}">
      <dsp:nvSpPr>
        <dsp:cNvPr id="0" name=""/>
        <dsp:cNvSpPr/>
      </dsp:nvSpPr>
      <dsp:spPr>
        <a:xfrm>
          <a:off x="757541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35418-1035-4A31-9BD2-91894AFDCA3A}">
      <dsp:nvSpPr>
        <dsp:cNvPr id="0" name=""/>
        <dsp:cNvSpPr/>
      </dsp:nvSpPr>
      <dsp:spPr>
        <a:xfrm>
          <a:off x="970975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C9E3D-CCD5-4575-8AF1-9CE1273D5569}">
      <dsp:nvSpPr>
        <dsp:cNvPr id="0" name=""/>
        <dsp:cNvSpPr/>
      </dsp:nvSpPr>
      <dsp:spPr>
        <a:xfrm>
          <a:off x="43739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clean and preprocess the supply chain dataset for analysis</a:t>
          </a:r>
          <a:r>
            <a:rPr lang="en-US" sz="1200" kern="1200" dirty="0"/>
            <a:t>.</a:t>
          </a:r>
        </a:p>
      </dsp:txBody>
      <dsp:txXfrm>
        <a:off x="437391" y="1313725"/>
        <a:ext cx="1641796" cy="656718"/>
      </dsp:txXfrm>
    </dsp:sp>
    <dsp:sp modelId="{ADA7753C-C7AA-47A8-8CA0-96BE46C45C28}">
      <dsp:nvSpPr>
        <dsp:cNvPr id="0" name=""/>
        <dsp:cNvSpPr/>
      </dsp:nvSpPr>
      <dsp:spPr>
        <a:xfrm>
          <a:off x="2686653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13385-94B4-4863-9B7F-1AAE7EB4D43E}">
      <dsp:nvSpPr>
        <dsp:cNvPr id="0" name=""/>
        <dsp:cNvSpPr/>
      </dsp:nvSpPr>
      <dsp:spPr>
        <a:xfrm>
          <a:off x="2900086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6BD9C-310E-4267-96D6-F369663F675F}">
      <dsp:nvSpPr>
        <dsp:cNvPr id="0" name=""/>
        <dsp:cNvSpPr/>
      </dsp:nvSpPr>
      <dsp:spPr>
        <a:xfrm>
          <a:off x="236650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study the flow of orders from procurement to delivery.</a:t>
          </a:r>
        </a:p>
      </dsp:txBody>
      <dsp:txXfrm>
        <a:off x="2366502" y="1313725"/>
        <a:ext cx="1641796" cy="656718"/>
      </dsp:txXfrm>
    </dsp:sp>
    <dsp:sp modelId="{DFE1D0E3-C789-411E-A44D-746F053ECEB9}">
      <dsp:nvSpPr>
        <dsp:cNvPr id="0" name=""/>
        <dsp:cNvSpPr/>
      </dsp:nvSpPr>
      <dsp:spPr>
        <a:xfrm>
          <a:off x="4615764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3C391-4B0A-4CAB-AE7E-48D05303F823}">
      <dsp:nvSpPr>
        <dsp:cNvPr id="0" name=""/>
        <dsp:cNvSpPr/>
      </dsp:nvSpPr>
      <dsp:spPr>
        <a:xfrm>
          <a:off x="482919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24253-BFA7-42F8-B971-F29EB77FF9D5}">
      <dsp:nvSpPr>
        <dsp:cNvPr id="0" name=""/>
        <dsp:cNvSpPr/>
      </dsp:nvSpPr>
      <dsp:spPr>
        <a:xfrm>
          <a:off x="429561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calculate important KPIs such as Revenue, Cost, and Profit.</a:t>
          </a:r>
        </a:p>
      </dsp:txBody>
      <dsp:txXfrm>
        <a:off x="4295614" y="1313725"/>
        <a:ext cx="1641796" cy="656718"/>
      </dsp:txXfrm>
    </dsp:sp>
    <dsp:sp modelId="{A9F682B4-9D79-42CA-AB59-C4BB934C00EF}">
      <dsp:nvSpPr>
        <dsp:cNvPr id="0" name=""/>
        <dsp:cNvSpPr/>
      </dsp:nvSpPr>
      <dsp:spPr>
        <a:xfrm>
          <a:off x="6544875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7B444-2497-4058-8CA1-07A715F48BC8}">
      <dsp:nvSpPr>
        <dsp:cNvPr id="0" name=""/>
        <dsp:cNvSpPr/>
      </dsp:nvSpPr>
      <dsp:spPr>
        <a:xfrm>
          <a:off x="675830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51DD9-9807-449A-B7A6-09B8DA195439}">
      <dsp:nvSpPr>
        <dsp:cNvPr id="0" name=""/>
        <dsp:cNvSpPr/>
      </dsp:nvSpPr>
      <dsp:spPr>
        <a:xfrm>
          <a:off x="622472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identify delays in the supply chain process</a:t>
          </a:r>
          <a:r>
            <a:rPr lang="en-US" sz="1100" kern="1200" dirty="0"/>
            <a:t>.</a:t>
          </a:r>
        </a:p>
      </dsp:txBody>
      <dsp:txXfrm>
        <a:off x="6224725" y="1313725"/>
        <a:ext cx="1641796" cy="656718"/>
      </dsp:txXfrm>
    </dsp:sp>
    <dsp:sp modelId="{726B81E4-0CEB-401B-91E2-62689EE4624D}">
      <dsp:nvSpPr>
        <dsp:cNvPr id="0" name=""/>
        <dsp:cNvSpPr/>
      </dsp:nvSpPr>
      <dsp:spPr>
        <a:xfrm>
          <a:off x="8473987" y="288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1E0FC-63BE-4BC3-A6BB-A0DAFA5F4966}">
      <dsp:nvSpPr>
        <dsp:cNvPr id="0" name=""/>
        <dsp:cNvSpPr/>
      </dsp:nvSpPr>
      <dsp:spPr>
        <a:xfrm>
          <a:off x="8687420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8C02F-22F6-4161-B5D0-125904E3FC34}">
      <dsp:nvSpPr>
        <dsp:cNvPr id="0" name=""/>
        <dsp:cNvSpPr/>
      </dsp:nvSpPr>
      <dsp:spPr>
        <a:xfrm>
          <a:off x="8153836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analyze customer, product, and warehouse performance.</a:t>
          </a:r>
        </a:p>
      </dsp:txBody>
      <dsp:txXfrm>
        <a:off x="8153836" y="1313725"/>
        <a:ext cx="1641796" cy="656718"/>
      </dsp:txXfrm>
    </dsp:sp>
    <dsp:sp modelId="{BE5CA668-D80F-4F21-81C1-A61105AE3DD3}">
      <dsp:nvSpPr>
        <dsp:cNvPr id="0" name=""/>
        <dsp:cNvSpPr/>
      </dsp:nvSpPr>
      <dsp:spPr>
        <a:xfrm>
          <a:off x="4615764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B1242-0F08-4B40-B0C4-DE3DA01B6F6A}">
      <dsp:nvSpPr>
        <dsp:cNvPr id="0" name=""/>
        <dsp:cNvSpPr/>
      </dsp:nvSpPr>
      <dsp:spPr>
        <a:xfrm>
          <a:off x="4829198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628C4-473C-4B42-A251-BAF19FEDE2D9}">
      <dsp:nvSpPr>
        <dsp:cNvPr id="0" name=""/>
        <dsp:cNvSpPr/>
      </dsp:nvSpPr>
      <dsp:spPr>
        <a:xfrm>
          <a:off x="4295614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To generate meaningful visualizations to support insights.</a:t>
          </a:r>
        </a:p>
      </dsp:txBody>
      <dsp:txXfrm>
        <a:off x="4295614" y="3694331"/>
        <a:ext cx="1641796" cy="656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6DFE6-E15C-4D75-87B1-EA2B38819508}">
      <dsp:nvSpPr>
        <dsp:cNvPr id="0" name=""/>
        <dsp:cNvSpPr/>
      </dsp:nvSpPr>
      <dsp:spPr>
        <a:xfrm>
          <a:off x="745" y="1296770"/>
          <a:ext cx="2615851" cy="1661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77297-B724-482E-9985-AF9FAD12EEE8}">
      <dsp:nvSpPr>
        <dsp:cNvPr id="0" name=""/>
        <dsp:cNvSpPr/>
      </dsp:nvSpPr>
      <dsp:spPr>
        <a:xfrm>
          <a:off x="291395" y="1572887"/>
          <a:ext cx="2615851" cy="1661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Used boxplots and Z-score to find extreme values in speed and damage cost.</a:t>
          </a:r>
        </a:p>
      </dsp:txBody>
      <dsp:txXfrm>
        <a:off x="340046" y="1621538"/>
        <a:ext cx="2518549" cy="1563763"/>
      </dsp:txXfrm>
    </dsp:sp>
    <dsp:sp modelId="{9891285D-2A1F-4EC8-B901-902E7ABEE79C}">
      <dsp:nvSpPr>
        <dsp:cNvPr id="0" name=""/>
        <dsp:cNvSpPr/>
      </dsp:nvSpPr>
      <dsp:spPr>
        <a:xfrm>
          <a:off x="3197897" y="1296770"/>
          <a:ext cx="2615851" cy="1661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FC9FB-9D3C-41BA-88EA-DD16492325B6}">
      <dsp:nvSpPr>
        <dsp:cNvPr id="0" name=""/>
        <dsp:cNvSpPr/>
      </dsp:nvSpPr>
      <dsp:spPr>
        <a:xfrm>
          <a:off x="3488547" y="1572887"/>
          <a:ext cx="2615851" cy="1661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Applied IQR method to cap extreme outliers for balanced analysis</a:t>
          </a:r>
        </a:p>
      </dsp:txBody>
      <dsp:txXfrm>
        <a:off x="3537198" y="1621538"/>
        <a:ext cx="2518549" cy="15637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61E53-0502-4DF8-8E13-86BE4FA2677E}">
      <dsp:nvSpPr>
        <dsp:cNvPr id="0" name=""/>
        <dsp:cNvSpPr/>
      </dsp:nvSpPr>
      <dsp:spPr>
        <a:xfrm>
          <a:off x="495091" y="1040731"/>
          <a:ext cx="807626" cy="80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AADE3-8C5E-4607-944D-322883C1449F}">
      <dsp:nvSpPr>
        <dsp:cNvPr id="0" name=""/>
        <dsp:cNvSpPr/>
      </dsp:nvSpPr>
      <dsp:spPr>
        <a:xfrm>
          <a:off x="1541" y="2188902"/>
          <a:ext cx="1794726" cy="112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supply chain has areas with strong performance and some bottlenecks.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541" y="2188902"/>
        <a:ext cx="1794726" cy="1121704"/>
      </dsp:txXfrm>
    </dsp:sp>
    <dsp:sp modelId="{B851FEA8-E2DD-4D07-890E-3FF8EFAB4F3C}">
      <dsp:nvSpPr>
        <dsp:cNvPr id="0" name=""/>
        <dsp:cNvSpPr/>
      </dsp:nvSpPr>
      <dsp:spPr>
        <a:xfrm>
          <a:off x="2603895" y="1040731"/>
          <a:ext cx="807626" cy="80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98199-2F43-4782-8634-12209B38EAB3}">
      <dsp:nvSpPr>
        <dsp:cNvPr id="0" name=""/>
        <dsp:cNvSpPr/>
      </dsp:nvSpPr>
      <dsp:spPr>
        <a:xfrm>
          <a:off x="2110345" y="2188902"/>
          <a:ext cx="1794726" cy="112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Delivery delays can be reduced by improving warehouse and shipping operations.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0345" y="2188902"/>
        <a:ext cx="1794726" cy="1121704"/>
      </dsp:txXfrm>
    </dsp:sp>
    <dsp:sp modelId="{66C8A4D4-2A5C-41B0-BC1C-80EB46A3E0BC}">
      <dsp:nvSpPr>
        <dsp:cNvPr id="0" name=""/>
        <dsp:cNvSpPr/>
      </dsp:nvSpPr>
      <dsp:spPr>
        <a:xfrm>
          <a:off x="4712699" y="1040731"/>
          <a:ext cx="807626" cy="80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DD30D-2577-4DB2-B468-0A1966DD9E39}">
      <dsp:nvSpPr>
        <dsp:cNvPr id="0" name=""/>
        <dsp:cNvSpPr/>
      </dsp:nvSpPr>
      <dsp:spPr>
        <a:xfrm>
          <a:off x="4219149" y="2188902"/>
          <a:ext cx="1794726" cy="112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Profitability varies widely across products and sales channels.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219149" y="2188902"/>
        <a:ext cx="1794726" cy="1121704"/>
      </dsp:txXfrm>
    </dsp:sp>
    <dsp:sp modelId="{BCD1BF95-AF8B-428F-A880-FD6AE36EA1A1}">
      <dsp:nvSpPr>
        <dsp:cNvPr id="0" name=""/>
        <dsp:cNvSpPr/>
      </dsp:nvSpPr>
      <dsp:spPr>
        <a:xfrm>
          <a:off x="6821502" y="1040731"/>
          <a:ext cx="807626" cy="8076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78D4F-A41A-4088-918A-3DC73936571A}">
      <dsp:nvSpPr>
        <dsp:cNvPr id="0" name=""/>
        <dsp:cNvSpPr/>
      </dsp:nvSpPr>
      <dsp:spPr>
        <a:xfrm>
          <a:off x="6327952" y="2188902"/>
          <a:ext cx="1794726" cy="112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EDA helped identify patterns that can support better forecasting, planning, and decision-making.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327952" y="2188902"/>
        <a:ext cx="1794726" cy="1121704"/>
      </dsp:txXfrm>
    </dsp:sp>
    <dsp:sp modelId="{F1600328-2DA1-4EB3-83AD-A74EA897E0CE}">
      <dsp:nvSpPr>
        <dsp:cNvPr id="0" name=""/>
        <dsp:cNvSpPr/>
      </dsp:nvSpPr>
      <dsp:spPr>
        <a:xfrm>
          <a:off x="8930306" y="1040731"/>
          <a:ext cx="807626" cy="8076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AB25E-00DB-42E4-A59F-C77B362E8FCE}">
      <dsp:nvSpPr>
        <dsp:cNvPr id="0" name=""/>
        <dsp:cNvSpPr/>
      </dsp:nvSpPr>
      <dsp:spPr>
        <a:xfrm>
          <a:off x="8436756" y="2188902"/>
          <a:ext cx="1794726" cy="11217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Overall, the analysis provides a clear understanding of supply chain performance.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436756" y="2188902"/>
        <a:ext cx="1794726" cy="1121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74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43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4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1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5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7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2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63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3415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132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05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68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601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78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3CA8EED-D1DF-4EB8-A20F-BEA0376267A0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769F842-CA68-4D31-AF9B-7CE89A53F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012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51E7C6-1961-4199-B95E-D0993B9FB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6616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B97F1EF-0AED-4298-89CA-8BA44F71D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534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63B5F041-E5DD-C81A-2B56-94B3A20CD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67" y="3589866"/>
            <a:ext cx="6167564" cy="355601"/>
          </a:xfrm>
        </p:spPr>
        <p:txBody>
          <a:bodyPr>
            <a:noAutofit/>
          </a:bodyPr>
          <a:lstStyle/>
          <a:p>
            <a:pPr algn="l"/>
            <a:r>
              <a:rPr lang="en-IN" sz="3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Exploratory Data Analysis (EDA) Project </a:t>
            </a:r>
          </a:p>
          <a:p>
            <a:pPr algn="l"/>
            <a:r>
              <a:rPr lang="en-IN" sz="3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 on</a:t>
            </a:r>
          </a:p>
          <a:p>
            <a:pPr algn="l"/>
            <a:r>
              <a:rPr lang="en-IN" sz="3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🚚 SUPPLY CHAIN ANALYSIS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1782EE-F77E-4722-85F0-C1E5F0790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7678" y="2627791"/>
            <a:ext cx="6235148" cy="3592034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effectLst>
                <a:outerShdw blurRad="469900" dist="342900" dir="5400000" sy="-20000" rotWithShape="0">
                  <a:schemeClr val="bg1"/>
                </a:outerShdw>
              </a:effectLst>
            </a:endParaRPr>
          </a:p>
        </p:txBody>
      </p:sp>
      <p:pic>
        <p:nvPicPr>
          <p:cNvPr id="9" name="Picture 8" descr="A logo of a university&#10;&#10;Description automatically generated">
            <a:extLst>
              <a:ext uri="{FF2B5EF4-FFF2-40B4-BE49-F238E27FC236}">
                <a16:creationId xmlns:a16="http://schemas.microsoft.com/office/drawing/2014/main" id="{BF430677-2ED3-EA0C-CF50-A0CCAF920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441" y="643464"/>
            <a:ext cx="2624670" cy="2624670"/>
          </a:xfrm>
          <a:prstGeom prst="rect">
            <a:avLst/>
          </a:prstGeom>
        </p:spPr>
      </p:pic>
      <p:pic>
        <p:nvPicPr>
          <p:cNvPr id="7" name="Picture 6" descr="A red and white logo with white text&#10;&#10;Description automatically generated">
            <a:extLst>
              <a:ext uri="{FF2B5EF4-FFF2-40B4-BE49-F238E27FC236}">
                <a16:creationId xmlns:a16="http://schemas.microsoft.com/office/drawing/2014/main" id="{C48A7F08-1C2E-D3A6-137F-2CD80BF49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441" y="3589866"/>
            <a:ext cx="2624669" cy="2624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401001-772A-128B-DE4B-AEA5F211C122}"/>
              </a:ext>
            </a:extLst>
          </p:cNvPr>
          <p:cNvSpPr txBox="1"/>
          <p:nvPr/>
        </p:nvSpPr>
        <p:spPr>
          <a:xfrm>
            <a:off x="437642" y="5958318"/>
            <a:ext cx="61595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</a:t>
            </a:r>
            <a:r>
              <a:rPr lang="en-I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Santosh Reddy K</a:t>
            </a:r>
            <a:b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5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1E28-328D-84BF-F104-4BF69156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 Bold"/>
              </a:rPr>
              <a:t>Introduction</a:t>
            </a:r>
            <a:br>
              <a:rPr lang="en-US" sz="4200" b="1" dirty="0">
                <a:solidFill>
                  <a:schemeClr val="tx1"/>
                </a:solidFill>
                <a:latin typeface="DM Sans Bold"/>
                <a:ea typeface="DM Sans Bold"/>
                <a:cs typeface="DM Sans Bold"/>
                <a:sym typeface="DM Sans Bold"/>
              </a:rPr>
            </a:br>
            <a:endParaRPr lang="en-IN" sz="4200" dirty="0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DA48221-627A-8973-3E3D-2A08E69E1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586594"/>
              </p:ext>
            </p:extLst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518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8E17-AF80-6F2C-58DE-ACB5BA75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61" name="Rectangle 4">
            <a:extLst>
              <a:ext uri="{FF2B5EF4-FFF2-40B4-BE49-F238E27FC236}">
                <a16:creationId xmlns:a16="http://schemas.microsoft.com/office/drawing/2014/main" id="{1969DCF6-8061-68B2-F57E-4AAAB4269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541870"/>
              </p:ext>
            </p:extLst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937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FED9A05D-68C4-D7BB-7B93-BF4EDD0D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12000"/>
          </a:blip>
          <a:srcRect t="7865" b="7865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77CFE8-9F19-E199-AF9B-CCEC710A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77D4D5-FD59-5D58-CBB1-526D7B6800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000" y="1825625"/>
            <a:ext cx="102338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missing values and handled them appropriately.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all date-related columns to proper datetime format.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invalid entries, such as negative values in Quantity, Price, or Discount.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formatting issues in numeric columns.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new calculated fields.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cleaning, the dataset became ready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04621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13E2-1495-2C59-5992-10B4BCB0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321733"/>
            <a:ext cx="6105144" cy="13245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 Treatment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AE0FB984-68A0-DEB0-0804-07BE41C6E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1" y="2152922"/>
            <a:ext cx="5208787" cy="2552155"/>
          </a:xfrm>
          <a:prstGeom prst="rect">
            <a:avLst/>
          </a:prstGeom>
        </p:spPr>
      </p:pic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4DC72F2E-8A7B-0C60-CFA7-AA0C685BF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887565"/>
              </p:ext>
            </p:extLst>
          </p:nvPr>
        </p:nvGraphicFramePr>
        <p:xfrm>
          <a:off x="5697972" y="1646239"/>
          <a:ext cx="6105145" cy="4530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91804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55883-2A09-FDAF-DA90-B08BA921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52" y="948680"/>
            <a:ext cx="5343525" cy="927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Capping </a:t>
            </a:r>
          </a:p>
        </p:txBody>
      </p:sp>
      <p:pic>
        <p:nvPicPr>
          <p:cNvPr id="7" name="Picture 6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4EA2547B-C479-12AB-ED39-37380B93F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86" y="2017986"/>
            <a:ext cx="5433658" cy="43216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C393D1-0A4E-B193-771D-9A155D7D9F35}"/>
              </a:ext>
            </a:extLst>
          </p:cNvPr>
          <p:cNvSpPr txBox="1"/>
          <p:nvPr/>
        </p:nvSpPr>
        <p:spPr>
          <a:xfrm>
            <a:off x="6598725" y="824327"/>
            <a:ext cx="6097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Capping 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FB379CC9-9E2A-D999-EE55-EEDED71A6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263" y="1876097"/>
            <a:ext cx="5597023" cy="446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09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A170-346B-296F-461D-B2B49250F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endParaRPr lang="en-IN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CA35-E7E0-D1A3-0808-EBBE8DE03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&amp; Time-Based Metrics:</a:t>
            </a:r>
          </a:p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195897-8FDF-6749-FF4A-D6D7A7B34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000" y="2536346"/>
            <a:ext cx="477630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key financial values like total price, cost, revenue (after discount), and profit for each order.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financial metrics help understand earning, spending, and overall business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lead-time metrics to measure how long each stage takes in the supply chain.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Measured delays such as order-to-ship time, ship-to-delivery time, and total delivery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time metrics help find slow steps, improve speed, and reduce delays in the process.</a:t>
            </a:r>
          </a:p>
        </p:txBody>
      </p:sp>
      <p:pic>
        <p:nvPicPr>
          <p:cNvPr id="8" name="Picture 7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44F80E54-F9F7-BC0E-8CC5-1CCFF3FE6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900" y="2325989"/>
            <a:ext cx="5827833" cy="266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36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Zigzag indicator line">
            <a:extLst>
              <a:ext uri="{FF2B5EF4-FFF2-40B4-BE49-F238E27FC236}">
                <a16:creationId xmlns:a16="http://schemas.microsoft.com/office/drawing/2014/main" id="{603DE67A-520A-82CC-6466-F71799F9D5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grayscl/>
          </a:blip>
          <a:srcRect t="9500" b="17527"/>
          <a:stretch>
            <a:fillRect/>
          </a:stretch>
        </p:blipFill>
        <p:spPr>
          <a:xfrm>
            <a:off x="20" y="1"/>
            <a:ext cx="12191980" cy="5938683"/>
          </a:xfrm>
          <a:prstGeom prst="rect">
            <a:avLst/>
          </a:prstGeom>
          <a:effectLst>
            <a:reflection blurRad="38100" stA="55000" endPos="1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3E7C9-517A-516E-58FC-EDFB783F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84A429B-C926-83D7-CF37-3D09989D4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000" y="1825625"/>
            <a:ext cx="102338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Studied individual variables to understand their distribution.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univariate findings: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orders were placed through a specific Sales Channel.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warehouses processed a higher number of orders compared to others.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demand distribution shows top-selling products.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Quantity varies widely depending on the product type.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histograms and bar charts to visualize patterns.</a:t>
            </a:r>
          </a:p>
        </p:txBody>
      </p:sp>
    </p:spTree>
    <p:extLst>
      <p:ext uri="{BB962C8B-B14F-4D97-AF65-F5344CB8AC3E}">
        <p14:creationId xmlns:p14="http://schemas.microsoft.com/office/powerpoint/2010/main" val="111226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3368-033F-4CB9-1540-EB1E90D3A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228" y="355375"/>
            <a:ext cx="10515600" cy="1325563"/>
          </a:xfrm>
        </p:spPr>
        <p:txBody>
          <a:bodyPr>
            <a:normAutofit/>
          </a:bodyPr>
          <a:lstStyle/>
          <a:p>
            <a:r>
              <a:rPr lang="en-IN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Columns</a:t>
            </a:r>
            <a:br>
              <a:rPr lang="en-US" sz="2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 Bold"/>
              </a:rPr>
            </a:br>
            <a:endParaRPr lang="en-IN" sz="2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group of graphs showing different sizes and shapes&#10;&#10;AI-generated content may be incorrect.">
            <a:extLst>
              <a:ext uri="{FF2B5EF4-FFF2-40B4-BE49-F238E27FC236}">
                <a16:creationId xmlns:a16="http://schemas.microsoft.com/office/drawing/2014/main" id="{0B85F2EB-98C1-B8F1-3BAF-F39159815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5" y="1428471"/>
            <a:ext cx="5367272" cy="4279982"/>
          </a:xfrm>
          <a:prstGeom prst="rect">
            <a:avLst/>
          </a:prstGeom>
        </p:spPr>
      </p:pic>
      <p:pic>
        <p:nvPicPr>
          <p:cNvPr id="8" name="Picture 7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9F17E9C9-6C2B-D2B2-44DA-78E347062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015" y="1428471"/>
            <a:ext cx="6345980" cy="4245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156A4-1A57-EF34-5507-FBE68234BB70}"/>
              </a:ext>
            </a:extLst>
          </p:cNvPr>
          <p:cNvSpPr txBox="1"/>
          <p:nvPr/>
        </p:nvSpPr>
        <p:spPr>
          <a:xfrm>
            <a:off x="-1314" y="479547"/>
            <a:ext cx="609731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Columns</a:t>
            </a:r>
            <a:endParaRPr lang="en-IN" sz="2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09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6130003-5222-4875-8738-1217755C7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1B265-4F49-D220-FAA8-E79A9FF0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388DCC-9257-412E-811D-30F74D4C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948070"/>
            <a:ext cx="4773166" cy="3896140"/>
          </a:xfrm>
          <a:prstGeom prst="roundRect">
            <a:avLst>
              <a:gd name="adj" fmla="val 2028"/>
            </a:avLst>
          </a:prstGeom>
          <a:solidFill>
            <a:schemeClr val="bg1"/>
          </a:solidFill>
          <a:ln>
            <a:noFill/>
          </a:ln>
          <a:effectLst>
            <a:innerShdw blurRad="127000" dist="12700">
              <a:prstClr val="black"/>
            </a:innerShdw>
            <a:reflection blurRad="6350" stA="52000" endA="300" endPos="2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F86D3A2-9EC7-65C7-8EEA-2A9BA0609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38" y="2290438"/>
            <a:ext cx="4397561" cy="333715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1DBB066-8129-D8F3-AFD6-130D30311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48069"/>
            <a:ext cx="5257799" cy="42288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Explored relationships between two variables at a time.</a:t>
            </a:r>
          </a:p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between Unit Price and Unit Cost to study margins.</a:t>
            </a:r>
          </a:p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of Discount on Order Quantity.</a:t>
            </a:r>
          </a:p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Warehouse_Code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Lead Time to identify delay-prone warehouses.</a:t>
            </a:r>
          </a:p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Sales_Channel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Total_Profit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identify the most profitable channel.</a:t>
            </a:r>
          </a:p>
          <a:p>
            <a:pPr marL="0" marR="0" lvl="0" indent="-228600" algn="just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scatter plots, boxplots, and bar charts for this part.</a:t>
            </a:r>
          </a:p>
        </p:txBody>
      </p:sp>
    </p:spTree>
    <p:extLst>
      <p:ext uri="{BB962C8B-B14F-4D97-AF65-F5344CB8AC3E}">
        <p14:creationId xmlns:p14="http://schemas.microsoft.com/office/powerpoint/2010/main" val="1047939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34D9E943-5D5B-5DC5-AEE4-9879065D1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79" y="3742267"/>
            <a:ext cx="4288074" cy="2905170"/>
          </a:xfrm>
          <a:prstGeom prst="rect">
            <a:avLst/>
          </a:prstGeom>
        </p:spPr>
      </p:pic>
      <p:pic>
        <p:nvPicPr>
          <p:cNvPr id="10" name="Picture 9" descr="A graph of blue dots&#10;&#10;AI-generated content may be incorrect.">
            <a:extLst>
              <a:ext uri="{FF2B5EF4-FFF2-40B4-BE49-F238E27FC236}">
                <a16:creationId xmlns:a16="http://schemas.microsoft.com/office/drawing/2014/main" id="{9BABF413-05B4-7324-8BE0-F49B6EFE6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79" y="210563"/>
            <a:ext cx="4166883" cy="276056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of sales&#10;&#10;AI-generated content may be incorrect.">
            <a:extLst>
              <a:ext uri="{FF2B5EF4-FFF2-40B4-BE49-F238E27FC236}">
                <a16:creationId xmlns:a16="http://schemas.microsoft.com/office/drawing/2014/main" id="{BE3BBDC1-9891-42FF-C875-CBFFF6207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504812"/>
            <a:ext cx="5426764" cy="37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0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5A51F-E754-F1D5-6AB9-C4505805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3429000"/>
            <a:ext cx="5806440" cy="2506972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5600" b="1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Heatmap</a:t>
            </a:r>
            <a:br>
              <a:rPr lang="en-US" sz="5600" b="1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5600" b="1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 Bold"/>
              </a:rPr>
            </a:br>
            <a:endParaRPr lang="en-US" sz="5600" b="1" spc="-300" dirty="0">
              <a:gradFill flip="none" rotWithShape="1">
                <a:gsLst>
                  <a:gs pos="32000">
                    <a:schemeClr val="tx1">
                      <a:lumMod val="89000"/>
                    </a:schemeClr>
                  </a:gs>
                  <a:gs pos="0">
                    <a:schemeClr val="bg1">
                      <a:lumMod val="41000"/>
                      <a:lumOff val="59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215AD8FE-C71D-EF9F-21F3-4755A1FCD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690" y="1071732"/>
            <a:ext cx="5310217" cy="388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0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E4241-327B-FA73-C2F5-3E1F456F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IN" sz="4000">
                <a:solidFill>
                  <a:schemeClr val="tx1">
                    <a:lumMod val="95000"/>
                  </a:schemeClr>
                </a:solidFill>
              </a:rPr>
              <a:t>Key Business Insights (1–4)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5B914C-B816-16EF-2E32-D89755076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2" y="1115786"/>
            <a:ext cx="6930071" cy="5143124"/>
          </a:xfrm>
        </p:spPr>
        <p:txBody>
          <a:bodyPr anchor="ctr">
            <a:normAutofit fontScale="62500" lnSpcReduction="20000"/>
          </a:bodyPr>
          <a:lstStyle/>
          <a:p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The “Cost of Dust” – Inventory Aging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sold within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0–30 days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the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profit margins</a:t>
            </a: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held for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90+ days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 margin decline</a:t>
            </a: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losses due to storage cost and clearance discounts</a:t>
            </a:r>
          </a:p>
          <a:p>
            <a:b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JIT Efficiency Gap (Procurement vs Sales)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Procurement spikes without matching sales demand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in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overstocking and capital blockage</a:t>
            </a: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alignment between demand planning and procurement</a:t>
            </a:r>
          </a:p>
          <a:p>
            <a:b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Warehouse Bottlenecks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warehouses show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order processing time</a:t>
            </a: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 is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(picking/packing)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shipping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operational inefficiencies at specific facilities</a:t>
            </a:r>
          </a:p>
          <a:p>
            <a:b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Performance Variance by Warehouse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differences in processing speed across warehouses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warehouses consistently outperform others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standardized operational practices</a:t>
            </a:r>
          </a:p>
          <a:p>
            <a:pPr marL="0" indent="0">
              <a:buNone/>
            </a:pPr>
            <a:endParaRPr lang="en-IN" sz="7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43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1C65C-B406-47CA-2F25-5472F8409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01" y="308018"/>
            <a:ext cx="4789729" cy="2898188"/>
          </a:xfrm>
          <a:prstGeom prst="rect">
            <a:avLst/>
          </a:prstGeom>
        </p:spPr>
      </p:pic>
      <p:pic>
        <p:nvPicPr>
          <p:cNvPr id="7" name="Picture 6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207DEA91-E363-5E74-8640-3A52FA071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545" y="306524"/>
            <a:ext cx="5562773" cy="2886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EF9BB8-1DD0-2750-8515-D6A211598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01" y="3428998"/>
            <a:ext cx="4789730" cy="3120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8E2DA3-570F-6030-D342-5F8EC4E100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545" y="3429000"/>
            <a:ext cx="5562773" cy="312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3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A014D-5EC8-A397-7D7D-590EDE71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IN" sz="4000">
                <a:solidFill>
                  <a:schemeClr val="tx1">
                    <a:lumMod val="95000"/>
                  </a:schemeClr>
                </a:solidFill>
              </a:rPr>
              <a:t>Key Business Insights (5–7)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F285-E87D-0FA1-14F0-A4F2FFC6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115786"/>
            <a:ext cx="5713790" cy="462642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5. The “Discount Trap” – Sales Team Impact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High discounts do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not guarantee higher order volume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Some sales teams sacrifice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profit for targets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Leads to margin erosion</a:t>
            </a:r>
          </a:p>
          <a:p>
            <a:br>
              <a:rPr lang="en-US" sz="1600" dirty="0">
                <a:solidFill>
                  <a:schemeClr val="tx1">
                    <a:lumMod val="95000"/>
                  </a:schemeClr>
                </a:solidFill>
              </a:rPr>
            </a:b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6. Channel Profitability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High sales volume ≠ high profit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Certain channels generate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better margins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 with lower discounts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Channel-wise strategy is required</a:t>
            </a:r>
          </a:p>
          <a:p>
            <a:br>
              <a:rPr lang="en-US" sz="1600" dirty="0">
                <a:solidFill>
                  <a:schemeClr val="tx1">
                    <a:lumMod val="95000"/>
                  </a:schemeClr>
                </a:solidFill>
              </a:rPr>
            </a:b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7. Loss Leaders – Profit Leakage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Identified 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Top 10 products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 with negative profit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These products drain resources despite sales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Require price revision, cost renegotiation, or removal</a:t>
            </a:r>
          </a:p>
          <a:p>
            <a:endParaRPr lang="en-IN" sz="13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13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red dots&#10;&#10;AI-generated content may be incorrect.">
            <a:extLst>
              <a:ext uri="{FF2B5EF4-FFF2-40B4-BE49-F238E27FC236}">
                <a16:creationId xmlns:a16="http://schemas.microsoft.com/office/drawing/2014/main" id="{EC84D8A4-05CA-94D8-8E96-2A6B91319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80" y="1240577"/>
            <a:ext cx="6410084" cy="439090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sales&#10;&#10;AI-generated content may be incorrect.">
            <a:extLst>
              <a:ext uri="{FF2B5EF4-FFF2-40B4-BE49-F238E27FC236}">
                <a16:creationId xmlns:a16="http://schemas.microsoft.com/office/drawing/2014/main" id="{7031FD6B-6BAD-03A7-3A15-B65C7F08A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293" y="643467"/>
            <a:ext cx="3794104" cy="247565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showing the results of a company's financial report&#10;&#10;AI-generated content may be incorrect.">
            <a:extLst>
              <a:ext uri="{FF2B5EF4-FFF2-40B4-BE49-F238E27FC236}">
                <a16:creationId xmlns:a16="http://schemas.microsoft.com/office/drawing/2014/main" id="{2E186AF1-3DBF-51B8-1E01-7D005AA44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873" y="3798614"/>
            <a:ext cx="3854945" cy="237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1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BC75-DD6D-EF10-0A94-072F17B1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 Bold"/>
              </a:rPr>
              <a:t>Data Visualization</a:t>
            </a:r>
            <a:br>
              <a:rPr lang="en-US" sz="4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M Sans Bold"/>
              </a:rPr>
            </a:br>
            <a:endParaRPr lang="en-IN" sz="4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AA424892-C5DE-6887-E1DF-A776E921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87226"/>
            <a:ext cx="10185400" cy="56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80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2543-1213-5151-0803-2DA76189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B3E4AAB-5C9A-4E67-870C-A3D6303F78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428393"/>
              </p:ext>
            </p:extLst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3134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34F5-7989-E7B6-1797-2479C364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489" y="4464028"/>
            <a:ext cx="10665311" cy="164149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9600" b="1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3FBFEE1-EDBE-5B5E-DC63-89C58C453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2270" y="643464"/>
            <a:ext cx="2838179" cy="2838179"/>
          </a:xfrm>
          <a:prstGeom prst="rect">
            <a:avLst/>
          </a:prstGeom>
          <a:effectLst>
            <a:reflection blurRad="38100" stA="52000" endA="300" endPos="30000" dir="5400000" sy="-100000" algn="bl" rotWithShape="0"/>
            <a:softEdge rad="19050"/>
          </a:effectLst>
        </p:spPr>
      </p:pic>
    </p:spTree>
    <p:extLst>
      <p:ext uri="{BB962C8B-B14F-4D97-AF65-F5344CB8AC3E}">
        <p14:creationId xmlns:p14="http://schemas.microsoft.com/office/powerpoint/2010/main" val="127506546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</TotalTime>
  <Words>770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Corbel</vt:lpstr>
      <vt:lpstr>DM Sans Bold</vt:lpstr>
      <vt:lpstr>Depth</vt:lpstr>
      <vt:lpstr>PowerPoint Presentation</vt:lpstr>
      <vt:lpstr>Introduction </vt:lpstr>
      <vt:lpstr>Objectives</vt:lpstr>
      <vt:lpstr>Data Cleaning</vt:lpstr>
      <vt:lpstr>Outlier Treatment</vt:lpstr>
      <vt:lpstr>PowerPoint Presentation</vt:lpstr>
      <vt:lpstr>Feature Engineering</vt:lpstr>
      <vt:lpstr>Univariate Analysis</vt:lpstr>
      <vt:lpstr>Category Columns </vt:lpstr>
      <vt:lpstr>Bivariate Analysis</vt:lpstr>
      <vt:lpstr>PowerPoint Presentation</vt:lpstr>
      <vt:lpstr>Correlation Heatmap  </vt:lpstr>
      <vt:lpstr>Key Business Insights (1–4)</vt:lpstr>
      <vt:lpstr>PowerPoint Presentation</vt:lpstr>
      <vt:lpstr>Key Business Insights (5–7)</vt:lpstr>
      <vt:lpstr>PowerPoint Presentation</vt:lpstr>
      <vt:lpstr>Data Visualization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kothapu santosh reddy</dc:creator>
  <cp:lastModifiedBy>kothapu santosh reddy</cp:lastModifiedBy>
  <cp:revision>4</cp:revision>
  <dcterms:created xsi:type="dcterms:W3CDTF">2024-12-02T11:35:44Z</dcterms:created>
  <dcterms:modified xsi:type="dcterms:W3CDTF">2025-12-16T16:29:12Z</dcterms:modified>
</cp:coreProperties>
</file>